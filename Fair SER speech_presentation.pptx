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36360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799369"/>
            <a:ext cx="2456815" cy="159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7957" y="3109782"/>
            <a:ext cx="629920" cy="128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710739" y="3109782"/>
            <a:ext cx="564514" cy="128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87778" y="3109782"/>
            <a:ext cx="142875" cy="128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6464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FairHindiSER:</a:t>
            </a:r>
            <a:r>
              <a:rPr dirty="0" spc="-25"/>
              <a:t> </a:t>
            </a:r>
            <a:r>
              <a:rPr dirty="0" spc="-20"/>
              <a:t>Problem</a:t>
            </a:r>
            <a:r>
              <a:rPr dirty="0" spc="-25"/>
              <a:t> Statement </a:t>
            </a:r>
            <a:r>
              <a:rPr dirty="0" spc="120"/>
              <a:t>&amp;</a:t>
            </a:r>
            <a:r>
              <a:rPr dirty="0" spc="-25"/>
              <a:t> </a:t>
            </a:r>
            <a:r>
              <a:rPr dirty="0" spc="-10"/>
              <a:t>Motivation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47294" y="565307"/>
            <a:ext cx="3595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46464"/>
                </a:solidFill>
                <a:latin typeface="Tahoma"/>
                <a:cs typeface="Tahoma"/>
              </a:rPr>
              <a:t>Fair</a:t>
            </a:r>
            <a:r>
              <a:rPr dirty="0" sz="1000" spc="-2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646464"/>
                </a:solidFill>
                <a:latin typeface="Tahoma"/>
                <a:cs typeface="Tahoma"/>
              </a:rPr>
              <a:t>Speech</a:t>
            </a:r>
            <a:r>
              <a:rPr dirty="0" sz="1000" spc="-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464"/>
                </a:solidFill>
                <a:latin typeface="Tahoma"/>
                <a:cs typeface="Tahoma"/>
              </a:rPr>
              <a:t>Emotion</a:t>
            </a:r>
            <a:r>
              <a:rPr dirty="0" sz="1000" spc="-25">
                <a:solidFill>
                  <a:srgbClr val="646464"/>
                </a:solidFill>
                <a:latin typeface="Tahoma"/>
                <a:cs typeface="Tahoma"/>
              </a:rPr>
              <a:t> Recognition</a:t>
            </a:r>
            <a:r>
              <a:rPr dirty="0" sz="1000" spc="-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464"/>
                </a:solidFill>
                <a:latin typeface="Tahoma"/>
                <a:cs typeface="Tahoma"/>
              </a:rPr>
              <a:t>for</a:t>
            </a:r>
            <a:r>
              <a:rPr dirty="0" sz="1000" spc="-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646464"/>
                </a:solidFill>
                <a:latin typeface="Tahoma"/>
                <a:cs typeface="Tahoma"/>
              </a:rPr>
              <a:t>Bilingual</a:t>
            </a:r>
            <a:r>
              <a:rPr dirty="0" sz="1000" spc="-25">
                <a:solidFill>
                  <a:srgbClr val="646464"/>
                </a:solidFill>
                <a:latin typeface="Tahoma"/>
                <a:cs typeface="Tahoma"/>
              </a:rPr>
              <a:t> Hindi–English</a:t>
            </a:r>
            <a:r>
              <a:rPr dirty="0" sz="1000" spc="-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646464"/>
                </a:solidFill>
                <a:latin typeface="Tahoma"/>
                <a:cs typeface="Tahoma"/>
              </a:rPr>
              <a:t>Audio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74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/>
              <a:t>What</a:t>
            </a:r>
            <a:r>
              <a:rPr dirty="0" spc="55"/>
              <a:t> </a:t>
            </a:r>
            <a:r>
              <a:rPr dirty="0" spc="-25"/>
              <a:t>is</a:t>
            </a:r>
            <a:r>
              <a:rPr dirty="0" spc="55"/>
              <a:t> </a:t>
            </a:r>
            <a:r>
              <a:rPr dirty="0" spc="-20"/>
              <a:t>SER?</a:t>
            </a:r>
          </a:p>
          <a:p>
            <a:pPr marL="38100" marR="30480">
              <a:lnSpc>
                <a:spcPct val="100000"/>
              </a:lnSpc>
              <a:spcBef>
                <a:spcPts val="195"/>
              </a:spcBef>
            </a:pPr>
            <a:r>
              <a:rPr dirty="0" spc="-40" b="0">
                <a:latin typeface="Tahoma"/>
                <a:cs typeface="Tahoma"/>
              </a:rPr>
              <a:t>Speech</a:t>
            </a:r>
            <a:r>
              <a:rPr dirty="0" spc="-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Emotion</a:t>
            </a:r>
            <a:r>
              <a:rPr dirty="0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Recognition</a:t>
            </a:r>
            <a:r>
              <a:rPr dirty="0" b="0">
                <a:latin typeface="Tahoma"/>
                <a:cs typeface="Tahoma"/>
              </a:rPr>
              <a:t> (SER)</a:t>
            </a:r>
            <a:r>
              <a:rPr dirty="0" spc="-5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classifies </a:t>
            </a:r>
            <a:r>
              <a:rPr dirty="0" spc="-25" b="0">
                <a:latin typeface="Tahoma"/>
                <a:cs typeface="Tahoma"/>
              </a:rPr>
              <a:t>emotional</a:t>
            </a:r>
            <a:r>
              <a:rPr dirty="0" spc="-35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state</a:t>
            </a:r>
            <a:r>
              <a:rPr dirty="0" spc="-3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from</a:t>
            </a:r>
            <a:r>
              <a:rPr dirty="0" spc="-40" b="0">
                <a:latin typeface="Tahoma"/>
                <a:cs typeface="Tahoma"/>
              </a:rPr>
              <a:t> raw</a:t>
            </a:r>
            <a:r>
              <a:rPr dirty="0" spc="-35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audio</a:t>
            </a:r>
            <a:r>
              <a:rPr dirty="0" spc="-4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for</a:t>
            </a:r>
            <a:r>
              <a:rPr dirty="0" spc="-3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classes </a:t>
            </a:r>
            <a:r>
              <a:rPr dirty="0" spc="-45" b="0">
                <a:latin typeface="Tahoma"/>
                <a:cs typeface="Tahoma"/>
              </a:rPr>
              <a:t>such</a:t>
            </a:r>
            <a:r>
              <a:rPr dirty="0" spc="-35" b="0">
                <a:latin typeface="Tahoma"/>
                <a:cs typeface="Tahoma"/>
              </a:rPr>
              <a:t> </a:t>
            </a:r>
            <a:r>
              <a:rPr dirty="0" spc="-20" b="0">
                <a:latin typeface="Tahoma"/>
                <a:cs typeface="Tahoma"/>
              </a:rPr>
              <a:t>as</a:t>
            </a:r>
            <a:r>
              <a:rPr dirty="0" spc="-45" b="0">
                <a:latin typeface="Tahoma"/>
                <a:cs typeface="Tahoma"/>
              </a:rPr>
              <a:t> </a:t>
            </a:r>
            <a:r>
              <a:rPr dirty="0" spc="-25" b="0" i="1">
                <a:latin typeface="Arial"/>
                <a:cs typeface="Arial"/>
              </a:rPr>
              <a:t>Angry,</a:t>
            </a:r>
            <a:r>
              <a:rPr dirty="0" spc="-5" b="0" i="1">
                <a:latin typeface="Arial"/>
                <a:cs typeface="Arial"/>
              </a:rPr>
              <a:t> </a:t>
            </a:r>
            <a:r>
              <a:rPr dirty="0" spc="-45" b="0" i="1">
                <a:latin typeface="Arial"/>
                <a:cs typeface="Arial"/>
              </a:rPr>
              <a:t>Happy,</a:t>
            </a:r>
            <a:r>
              <a:rPr dirty="0" spc="-5" b="0" i="1">
                <a:latin typeface="Arial"/>
                <a:cs typeface="Arial"/>
              </a:rPr>
              <a:t> </a:t>
            </a:r>
            <a:r>
              <a:rPr dirty="0" spc="-10" b="0" i="1">
                <a:latin typeface="Arial"/>
                <a:cs typeface="Arial"/>
              </a:rPr>
              <a:t>Neutral,</a:t>
            </a:r>
            <a:r>
              <a:rPr dirty="0" spc="-5" b="0" i="1">
                <a:latin typeface="Arial"/>
                <a:cs typeface="Arial"/>
              </a:rPr>
              <a:t> </a:t>
            </a:r>
            <a:r>
              <a:rPr dirty="0" spc="-25" b="0">
                <a:latin typeface="Tahoma"/>
                <a:cs typeface="Tahoma"/>
              </a:rPr>
              <a:t>and</a:t>
            </a:r>
            <a:r>
              <a:rPr dirty="0" spc="-40" b="0">
                <a:latin typeface="Tahoma"/>
                <a:cs typeface="Tahoma"/>
              </a:rPr>
              <a:t> </a:t>
            </a:r>
            <a:r>
              <a:rPr dirty="0" spc="-20" b="0" i="1">
                <a:latin typeface="Arial"/>
                <a:cs typeface="Arial"/>
              </a:rPr>
              <a:t>Sad</a:t>
            </a:r>
            <a:r>
              <a:rPr dirty="0" spc="-20" b="0">
                <a:latin typeface="Tahoma"/>
                <a:cs typeface="Tahoma"/>
              </a:rPr>
              <a:t>.</a:t>
            </a:r>
          </a:p>
          <a:p>
            <a:pPr marL="38100">
              <a:lnSpc>
                <a:spcPct val="100000"/>
              </a:lnSpc>
              <a:spcBef>
                <a:spcPts val="585"/>
              </a:spcBef>
            </a:pPr>
            <a:r>
              <a:rPr dirty="0"/>
              <a:t>Where</a:t>
            </a:r>
            <a:r>
              <a:rPr dirty="0" spc="30"/>
              <a:t> </a:t>
            </a:r>
            <a:r>
              <a:rPr dirty="0" spc="-25"/>
              <a:t>is</a:t>
            </a:r>
            <a:r>
              <a:rPr dirty="0" spc="35"/>
              <a:t> </a:t>
            </a:r>
            <a:r>
              <a:rPr dirty="0"/>
              <a:t>it</a:t>
            </a:r>
            <a:r>
              <a:rPr dirty="0" spc="30"/>
              <a:t> </a:t>
            </a:r>
            <a:r>
              <a:rPr dirty="0" spc="-10"/>
              <a:t>used?</a:t>
            </a:r>
          </a:p>
          <a:p>
            <a:pPr marL="313055" indent="-130810">
              <a:lnSpc>
                <a:spcPct val="100000"/>
              </a:lnSpc>
              <a:spcBef>
                <a:spcPts val="590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b="0">
                <a:latin typeface="Tahoma"/>
                <a:cs typeface="Tahoma"/>
              </a:rPr>
              <a:t>Mental</a:t>
            </a:r>
            <a:r>
              <a:rPr dirty="0" sz="1000" spc="-30" b="0">
                <a:latin typeface="Tahoma"/>
                <a:cs typeface="Tahoma"/>
              </a:rPr>
              <a:t> health </a:t>
            </a:r>
            <a:r>
              <a:rPr dirty="0" sz="1000" spc="-10" b="0">
                <a:latin typeface="Tahoma"/>
                <a:cs typeface="Tahoma"/>
              </a:rPr>
              <a:t>monitoring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30" b="0">
                <a:latin typeface="Tahoma"/>
                <a:cs typeface="Tahoma"/>
              </a:rPr>
              <a:t>Call-</a:t>
            </a:r>
            <a:r>
              <a:rPr dirty="0" sz="1000" spc="-20" b="0">
                <a:latin typeface="Tahoma"/>
                <a:cs typeface="Tahoma"/>
              </a:rPr>
              <a:t>centre</a:t>
            </a:r>
            <a:r>
              <a:rPr dirty="0" sz="1000" b="0">
                <a:latin typeface="Tahoma"/>
                <a:cs typeface="Tahoma"/>
              </a:rPr>
              <a:t> </a:t>
            </a:r>
            <a:r>
              <a:rPr dirty="0" sz="1000" spc="-10" b="0">
                <a:latin typeface="Tahoma"/>
                <a:cs typeface="Tahoma"/>
              </a:rPr>
              <a:t>analytics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25" b="0">
                <a:latin typeface="Tahoma"/>
                <a:cs typeface="Tahoma"/>
              </a:rPr>
              <a:t>Human–robot</a:t>
            </a:r>
            <a:r>
              <a:rPr dirty="0" sz="1000" spc="-15" b="0">
                <a:latin typeface="Tahoma"/>
                <a:cs typeface="Tahoma"/>
              </a:rPr>
              <a:t> </a:t>
            </a:r>
            <a:r>
              <a:rPr dirty="0" sz="1000" spc="-10" b="0">
                <a:latin typeface="Tahoma"/>
                <a:cs typeface="Tahoma"/>
              </a:rPr>
              <a:t>interaction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7294" y="2494818"/>
            <a:ext cx="249555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dirty="0" sz="1000" spc="-35" b="1">
                <a:latin typeface="Arial"/>
                <a:cs typeface="Arial"/>
              </a:rPr>
              <a:t>Foundation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model: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40"/>
              </a:spcBef>
            </a:pPr>
            <a:r>
              <a:rPr dirty="0" sz="1000" spc="-40" b="1">
                <a:solidFill>
                  <a:srgbClr val="1E50A0"/>
                </a:solidFill>
                <a:latin typeface="Arial"/>
                <a:cs typeface="Arial"/>
              </a:rPr>
              <a:t>wav2vec</a:t>
            </a:r>
            <a:r>
              <a:rPr dirty="0" sz="1000" spc="70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E50A0"/>
                </a:solidFill>
                <a:latin typeface="Arial"/>
                <a:cs typeface="Arial"/>
              </a:rPr>
              <a:t>2.0</a:t>
            </a:r>
            <a:r>
              <a:rPr dirty="0" sz="1000" spc="35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–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7-</a:t>
            </a:r>
            <a:r>
              <a:rPr dirty="0" sz="1000" spc="-55">
                <a:latin typeface="Tahoma"/>
                <a:cs typeface="Tahoma"/>
              </a:rPr>
              <a:t>layer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CNN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12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Transformer </a:t>
            </a:r>
            <a:r>
              <a:rPr dirty="0" sz="1000" spc="-45">
                <a:latin typeface="Tahoma"/>
                <a:cs typeface="Tahoma"/>
              </a:rPr>
              <a:t>layers,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pre-</a:t>
            </a:r>
            <a:r>
              <a:rPr dirty="0" sz="1000" spc="-30">
                <a:latin typeface="Tahoma"/>
                <a:cs typeface="Tahoma"/>
              </a:rPr>
              <a:t>trained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20">
                <a:latin typeface="Tahoma"/>
                <a:cs typeface="Tahoma"/>
              </a:rPr>
              <a:t> English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audiobooks.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17672" y="892858"/>
            <a:ext cx="2331085" cy="726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95"/>
              </a:spcBef>
            </a:pPr>
            <a:r>
              <a:rPr dirty="0" sz="1200">
                <a:solidFill>
                  <a:srgbClr val="B42727"/>
                </a:solidFill>
                <a:latin typeface="Tahoma"/>
                <a:cs typeface="Tahoma"/>
              </a:rPr>
              <a:t>Two</a:t>
            </a:r>
            <a:r>
              <a:rPr dirty="0" sz="1200" spc="-95">
                <a:solidFill>
                  <a:srgbClr val="B42727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B42727"/>
                </a:solidFill>
                <a:latin typeface="Tahoma"/>
                <a:cs typeface="Tahoma"/>
              </a:rPr>
              <a:t>Critical</a:t>
            </a:r>
            <a:r>
              <a:rPr dirty="0" sz="1200" spc="-90">
                <a:solidFill>
                  <a:srgbClr val="B42727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B42727"/>
                </a:solidFill>
                <a:latin typeface="Tahoma"/>
                <a:cs typeface="Tahoma"/>
              </a:rPr>
              <a:t>Biases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940"/>
              </a:lnSpc>
              <a:tabLst>
                <a:tab pos="661035" algn="l"/>
              </a:tabLst>
            </a:pPr>
            <a:r>
              <a:rPr dirty="0" sz="900" spc="-10" b="1">
                <a:latin typeface="Arial"/>
                <a:cs typeface="Arial"/>
              </a:rPr>
              <a:t>Language</a:t>
            </a:r>
            <a:r>
              <a:rPr dirty="0" sz="900" b="1">
                <a:latin typeface="Arial"/>
                <a:cs typeface="Arial"/>
              </a:rPr>
              <a:t>	</a:t>
            </a:r>
            <a:r>
              <a:rPr dirty="0" sz="900" spc="-20">
                <a:latin typeface="Tahoma"/>
                <a:cs typeface="Tahoma"/>
              </a:rPr>
              <a:t>English-</a:t>
            </a:r>
            <a:r>
              <a:rPr dirty="0" sz="900">
                <a:latin typeface="Tahoma"/>
                <a:cs typeface="Tahoma"/>
              </a:rPr>
              <a:t>centric</a:t>
            </a:r>
            <a:r>
              <a:rPr dirty="0" sz="900" spc="2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training</a:t>
            </a:r>
            <a:r>
              <a:rPr dirty="0" sz="900" spc="24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misreads</a:t>
            </a:r>
            <a:endParaRPr sz="900">
              <a:latin typeface="Tahoma"/>
              <a:cs typeface="Tahoma"/>
            </a:endParaRPr>
          </a:p>
          <a:p>
            <a:pPr marL="661035">
              <a:lnSpc>
                <a:spcPct val="100000"/>
              </a:lnSpc>
              <a:spcBef>
                <a:spcPts val="15"/>
              </a:spcBef>
            </a:pPr>
            <a:r>
              <a:rPr dirty="0" sz="900">
                <a:latin typeface="Tahoma"/>
                <a:cs typeface="Tahoma"/>
              </a:rPr>
              <a:t>Hindi</a:t>
            </a:r>
            <a:r>
              <a:rPr dirty="0" sz="900" spc="4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prosody</a:t>
            </a:r>
            <a:endParaRPr sz="900">
              <a:latin typeface="Tahoma"/>
              <a:cs typeface="Tahoma"/>
            </a:endParaRPr>
          </a:p>
          <a:p>
            <a:pPr marL="661035" marR="5715" indent="-648970">
              <a:lnSpc>
                <a:spcPct val="101499"/>
              </a:lnSpc>
              <a:tabLst>
                <a:tab pos="661035" algn="l"/>
              </a:tabLst>
            </a:pPr>
            <a:r>
              <a:rPr dirty="0" sz="900" spc="-10" b="1">
                <a:latin typeface="Arial"/>
                <a:cs typeface="Arial"/>
              </a:rPr>
              <a:t>Gender</a:t>
            </a:r>
            <a:r>
              <a:rPr dirty="0" sz="900" b="1">
                <a:latin typeface="Arial"/>
                <a:cs typeface="Arial"/>
              </a:rPr>
              <a:t>	</a:t>
            </a:r>
            <a:r>
              <a:rPr dirty="0" sz="900" spc="-10">
                <a:latin typeface="Tahoma"/>
                <a:cs typeface="Tahoma"/>
              </a:rPr>
              <a:t>Male-skewed</a:t>
            </a:r>
            <a:r>
              <a:rPr dirty="0" sz="900" spc="1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corpora</a:t>
            </a:r>
            <a:r>
              <a:rPr dirty="0" sz="900" spc="13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create</a:t>
            </a:r>
            <a:r>
              <a:rPr dirty="0" sz="900" spc="13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un- </a:t>
            </a:r>
            <a:r>
              <a:rPr dirty="0" sz="900" spc="-10">
                <a:latin typeface="Tahoma"/>
                <a:cs typeface="Tahoma"/>
              </a:rPr>
              <a:t>equal</a:t>
            </a:r>
            <a:r>
              <a:rPr dirty="0" sz="900" spc="-5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performance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92272" y="1599292"/>
            <a:ext cx="2354580" cy="9366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b="1">
                <a:latin typeface="Arial"/>
                <a:cs typeface="Arial"/>
              </a:rPr>
              <a:t>Our</a:t>
            </a:r>
            <a:r>
              <a:rPr dirty="0" sz="1000" spc="1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goal:</a:t>
            </a:r>
            <a:endParaRPr sz="1000">
              <a:latin typeface="Arial"/>
              <a:cs typeface="Arial"/>
            </a:endParaRPr>
          </a:p>
          <a:p>
            <a:pPr marL="313055" indent="-130810">
              <a:lnSpc>
                <a:spcPct val="100000"/>
              </a:lnSpc>
              <a:spcBef>
                <a:spcPts val="590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20">
                <a:latin typeface="Tahoma"/>
                <a:cs typeface="Tahoma"/>
              </a:rPr>
              <a:t>Balanced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bilingual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dataset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(EN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+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HI)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>
                <a:latin typeface="Tahoma"/>
                <a:cs typeface="Tahoma"/>
              </a:rPr>
              <a:t>Fair </a:t>
            </a:r>
            <a:r>
              <a:rPr dirty="0" sz="1000" spc="-40">
                <a:latin typeface="Tahoma"/>
                <a:cs typeface="Tahoma"/>
              </a:rPr>
              <a:t>five-stage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fine-</a:t>
            </a:r>
            <a:r>
              <a:rPr dirty="0" sz="1000" spc="-25">
                <a:latin typeface="Tahoma"/>
                <a:cs typeface="Tahoma"/>
              </a:rPr>
              <a:t>tuning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pipeline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0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30">
                <a:latin typeface="Tahoma"/>
                <a:cs typeface="Tahoma"/>
              </a:rPr>
              <a:t>AudioTrust-</a:t>
            </a:r>
            <a:r>
              <a:rPr dirty="0" sz="1000" spc="-50">
                <a:latin typeface="Tahoma"/>
                <a:cs typeface="Tahoma"/>
              </a:rPr>
              <a:t>based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evaluation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System</a:t>
            </a:r>
            <a:r>
              <a:rPr dirty="0" spc="-75"/>
              <a:t> </a:t>
            </a:r>
            <a:r>
              <a:rPr dirty="0" spc="-20"/>
              <a:t>Architecture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359931" y="1171731"/>
            <a:ext cx="688340" cy="264160"/>
            <a:chOff x="359931" y="1171731"/>
            <a:chExt cx="688340" cy="264160"/>
          </a:xfrm>
        </p:grpSpPr>
        <p:sp>
          <p:nvSpPr>
            <p:cNvPr id="5" name="object 5" descr=""/>
            <p:cNvSpPr/>
            <p:nvPr/>
          </p:nvSpPr>
          <p:spPr>
            <a:xfrm>
              <a:off x="361519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5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6" y="237546"/>
                  </a:lnTo>
                  <a:lnTo>
                    <a:pt x="685046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solidFill>
              <a:srgbClr val="E5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1519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5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6" y="237546"/>
                  </a:lnTo>
                  <a:lnTo>
                    <a:pt x="685046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ln w="3175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27667" y="1186807"/>
            <a:ext cx="553085" cy="21590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600" spc="-10" b="1">
                <a:latin typeface="Arial"/>
                <a:cs typeface="Arial"/>
              </a:rPr>
              <a:t>Raw</a:t>
            </a:r>
            <a:r>
              <a:rPr dirty="0" sz="600" spc="-25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Waveform</a:t>
            </a:r>
            <a:endParaRPr sz="600">
              <a:latin typeface="Arial"/>
              <a:cs typeface="Arial"/>
            </a:endParaRPr>
          </a:p>
          <a:p>
            <a:pPr marL="62230">
              <a:lnSpc>
                <a:spcPct val="100000"/>
              </a:lnSpc>
              <a:spcBef>
                <a:spcPts val="50"/>
              </a:spcBef>
            </a:pPr>
            <a:r>
              <a:rPr dirty="0" sz="550" spc="-30">
                <a:latin typeface="Tahoma"/>
                <a:cs typeface="Tahoma"/>
              </a:rPr>
              <a:t>16</a:t>
            </a:r>
            <a:r>
              <a:rPr dirty="0" sz="550" spc="-80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kHz</a:t>
            </a:r>
            <a:r>
              <a:rPr dirty="0" sz="550" spc="25">
                <a:latin typeface="Tahoma"/>
                <a:cs typeface="Tahoma"/>
              </a:rPr>
              <a:t> </a:t>
            </a:r>
            <a:r>
              <a:rPr dirty="0" sz="550">
                <a:latin typeface="Calibri"/>
                <a:cs typeface="Calibri"/>
              </a:rPr>
              <a:t>·</a:t>
            </a:r>
            <a:r>
              <a:rPr dirty="0" sz="550" spc="80">
                <a:latin typeface="Calibri"/>
                <a:cs typeface="Calibri"/>
              </a:rPr>
              <a:t> </a:t>
            </a:r>
            <a:r>
              <a:rPr dirty="0" sz="550" spc="-20">
                <a:latin typeface="Tahoma"/>
                <a:cs typeface="Tahoma"/>
              </a:rPr>
              <a:t>mono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221650" y="1171731"/>
            <a:ext cx="688340" cy="264160"/>
            <a:chOff x="1221650" y="1171731"/>
            <a:chExt cx="688340" cy="264160"/>
          </a:xfrm>
        </p:grpSpPr>
        <p:sp>
          <p:nvSpPr>
            <p:cNvPr id="9" name="object 9" descr=""/>
            <p:cNvSpPr/>
            <p:nvPr/>
          </p:nvSpPr>
          <p:spPr>
            <a:xfrm>
              <a:off x="1223237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4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7" y="237546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solidFill>
              <a:srgbClr val="E5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23237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4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7" y="237546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ln w="3175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91118" y="1180123"/>
            <a:ext cx="548005" cy="21590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600" b="1">
                <a:latin typeface="Arial"/>
                <a:cs typeface="Arial"/>
              </a:rPr>
              <a:t>CNN</a:t>
            </a:r>
            <a:r>
              <a:rPr dirty="0" sz="600" spc="8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Extractor</a:t>
            </a:r>
            <a:endParaRPr sz="6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50"/>
              </a:spcBef>
            </a:pPr>
            <a:r>
              <a:rPr dirty="0" sz="550" spc="-20">
                <a:latin typeface="Tahoma"/>
                <a:cs typeface="Tahoma"/>
              </a:rPr>
              <a:t>7-layer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1-</a:t>
            </a:r>
            <a:r>
              <a:rPr dirty="0" sz="550">
                <a:latin typeface="Tahoma"/>
                <a:cs typeface="Tahoma"/>
              </a:rPr>
              <a:t>D</a:t>
            </a:r>
            <a:r>
              <a:rPr dirty="0" sz="550" spc="15">
                <a:latin typeface="Tahoma"/>
                <a:cs typeface="Tahoma"/>
              </a:rPr>
              <a:t> </a:t>
            </a:r>
            <a:r>
              <a:rPr dirty="0" sz="550" spc="-20">
                <a:latin typeface="Tahoma"/>
                <a:cs typeface="Tahoma"/>
              </a:rPr>
              <a:t>Conv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083369" y="1149419"/>
            <a:ext cx="688340" cy="308610"/>
            <a:chOff x="2083369" y="1149419"/>
            <a:chExt cx="688340" cy="308610"/>
          </a:xfrm>
        </p:grpSpPr>
        <p:sp>
          <p:nvSpPr>
            <p:cNvPr id="13" name="object 13" descr=""/>
            <p:cNvSpPr/>
            <p:nvPr/>
          </p:nvSpPr>
          <p:spPr>
            <a:xfrm>
              <a:off x="2084956" y="1151006"/>
              <a:ext cx="685165" cy="305435"/>
            </a:xfrm>
            <a:custGeom>
              <a:avLst/>
              <a:gdLst/>
              <a:ahLst/>
              <a:cxnLst/>
              <a:rect l="l" t="t" r="r" b="b"/>
              <a:pathLst>
                <a:path w="685164" h="30543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82171"/>
                  </a:lnTo>
                  <a:lnTo>
                    <a:pt x="1798" y="291078"/>
                  </a:lnTo>
                  <a:lnTo>
                    <a:pt x="6702" y="298351"/>
                  </a:lnTo>
                  <a:lnTo>
                    <a:pt x="13975" y="303255"/>
                  </a:lnTo>
                  <a:lnTo>
                    <a:pt x="22882" y="305053"/>
                  </a:lnTo>
                  <a:lnTo>
                    <a:pt x="662164" y="305053"/>
                  </a:lnTo>
                  <a:lnTo>
                    <a:pt x="671071" y="303255"/>
                  </a:lnTo>
                  <a:lnTo>
                    <a:pt x="678344" y="298351"/>
                  </a:lnTo>
                  <a:lnTo>
                    <a:pt x="683248" y="291078"/>
                  </a:lnTo>
                  <a:lnTo>
                    <a:pt x="685047" y="282171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solidFill>
              <a:srgbClr val="E5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84956" y="1151006"/>
              <a:ext cx="685165" cy="305435"/>
            </a:xfrm>
            <a:custGeom>
              <a:avLst/>
              <a:gdLst/>
              <a:ahLst/>
              <a:cxnLst/>
              <a:rect l="l" t="t" r="r" b="b"/>
              <a:pathLst>
                <a:path w="685164" h="30543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82171"/>
                  </a:lnTo>
                  <a:lnTo>
                    <a:pt x="1798" y="291078"/>
                  </a:lnTo>
                  <a:lnTo>
                    <a:pt x="6702" y="298351"/>
                  </a:lnTo>
                  <a:lnTo>
                    <a:pt x="13975" y="303255"/>
                  </a:lnTo>
                  <a:lnTo>
                    <a:pt x="22882" y="305053"/>
                  </a:lnTo>
                  <a:lnTo>
                    <a:pt x="662164" y="305053"/>
                  </a:lnTo>
                  <a:lnTo>
                    <a:pt x="671071" y="303255"/>
                  </a:lnTo>
                  <a:lnTo>
                    <a:pt x="678344" y="298351"/>
                  </a:lnTo>
                  <a:lnTo>
                    <a:pt x="683248" y="291078"/>
                  </a:lnTo>
                  <a:lnTo>
                    <a:pt x="685047" y="282171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ln w="3175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131716" y="1142844"/>
            <a:ext cx="591820" cy="299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5725" marR="78105">
              <a:lnSpc>
                <a:spcPct val="100000"/>
              </a:lnSpc>
              <a:spcBef>
                <a:spcPts val="100"/>
              </a:spcBef>
            </a:pPr>
            <a:r>
              <a:rPr dirty="0" sz="600" spc="-35" b="1">
                <a:latin typeface="Arial"/>
                <a:cs typeface="Arial"/>
              </a:rPr>
              <a:t>Transformer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Encoder</a:t>
            </a:r>
            <a:endParaRPr sz="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550">
                <a:latin typeface="Tahoma"/>
                <a:cs typeface="Tahoma"/>
              </a:rPr>
              <a:t>12</a:t>
            </a:r>
            <a:r>
              <a:rPr dirty="0" sz="550" spc="-5">
                <a:latin typeface="Tahoma"/>
                <a:cs typeface="Tahoma"/>
              </a:rPr>
              <a:t> </a:t>
            </a:r>
            <a:r>
              <a:rPr dirty="0" sz="550" spc="-25">
                <a:latin typeface="Tahoma"/>
                <a:cs typeface="Tahoma"/>
              </a:rPr>
              <a:t>layers</a:t>
            </a:r>
            <a:r>
              <a:rPr dirty="0" sz="550">
                <a:latin typeface="Tahoma"/>
                <a:cs typeface="Tahoma"/>
              </a:rPr>
              <a:t> </a:t>
            </a:r>
            <a:r>
              <a:rPr dirty="0" sz="550">
                <a:latin typeface="Calibri"/>
                <a:cs typeface="Calibri"/>
              </a:rPr>
              <a:t>·</a:t>
            </a:r>
            <a:r>
              <a:rPr dirty="0" sz="550" spc="45">
                <a:latin typeface="Calibri"/>
                <a:cs typeface="Calibri"/>
              </a:rPr>
              <a:t> </a:t>
            </a:r>
            <a:r>
              <a:rPr dirty="0" sz="550">
                <a:latin typeface="Tahoma"/>
                <a:cs typeface="Tahoma"/>
              </a:rPr>
              <a:t>dim </a:t>
            </a:r>
            <a:r>
              <a:rPr dirty="0" sz="550" spc="-25">
                <a:latin typeface="Tahoma"/>
                <a:cs typeface="Tahoma"/>
              </a:rPr>
              <a:t>768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945087" y="1156093"/>
            <a:ext cx="688340" cy="295275"/>
            <a:chOff x="2945087" y="1156093"/>
            <a:chExt cx="688340" cy="295275"/>
          </a:xfrm>
        </p:grpSpPr>
        <p:sp>
          <p:nvSpPr>
            <p:cNvPr id="17" name="object 17" descr=""/>
            <p:cNvSpPr/>
            <p:nvPr/>
          </p:nvSpPr>
          <p:spPr>
            <a:xfrm>
              <a:off x="2946675" y="1157680"/>
              <a:ext cx="685165" cy="292100"/>
            </a:xfrm>
            <a:custGeom>
              <a:avLst/>
              <a:gdLst/>
              <a:ahLst/>
              <a:cxnLst/>
              <a:rect l="l" t="t" r="r" b="b"/>
              <a:pathLst>
                <a:path w="685164" h="292100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68823"/>
                  </a:lnTo>
                  <a:lnTo>
                    <a:pt x="1798" y="277730"/>
                  </a:lnTo>
                  <a:lnTo>
                    <a:pt x="6702" y="285003"/>
                  </a:lnTo>
                  <a:lnTo>
                    <a:pt x="13975" y="289907"/>
                  </a:lnTo>
                  <a:lnTo>
                    <a:pt x="22882" y="291705"/>
                  </a:lnTo>
                  <a:lnTo>
                    <a:pt x="662164" y="291705"/>
                  </a:lnTo>
                  <a:lnTo>
                    <a:pt x="671071" y="289907"/>
                  </a:lnTo>
                  <a:lnTo>
                    <a:pt x="678344" y="285003"/>
                  </a:lnTo>
                  <a:lnTo>
                    <a:pt x="683248" y="277730"/>
                  </a:lnTo>
                  <a:lnTo>
                    <a:pt x="685047" y="268823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solidFill>
              <a:srgbClr val="E5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46675" y="1157680"/>
              <a:ext cx="685165" cy="292100"/>
            </a:xfrm>
            <a:custGeom>
              <a:avLst/>
              <a:gdLst/>
              <a:ahLst/>
              <a:cxnLst/>
              <a:rect l="l" t="t" r="r" b="b"/>
              <a:pathLst>
                <a:path w="685164" h="292100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68823"/>
                  </a:lnTo>
                  <a:lnTo>
                    <a:pt x="1798" y="277730"/>
                  </a:lnTo>
                  <a:lnTo>
                    <a:pt x="6702" y="285003"/>
                  </a:lnTo>
                  <a:lnTo>
                    <a:pt x="13975" y="289907"/>
                  </a:lnTo>
                  <a:lnTo>
                    <a:pt x="22882" y="291705"/>
                  </a:lnTo>
                  <a:lnTo>
                    <a:pt x="662164" y="291705"/>
                  </a:lnTo>
                  <a:lnTo>
                    <a:pt x="671071" y="289907"/>
                  </a:lnTo>
                  <a:lnTo>
                    <a:pt x="678344" y="285003"/>
                  </a:lnTo>
                  <a:lnTo>
                    <a:pt x="683248" y="277730"/>
                  </a:lnTo>
                  <a:lnTo>
                    <a:pt x="685047" y="268823"/>
                  </a:lnTo>
                  <a:lnTo>
                    <a:pt x="685047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ln w="3175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018879" y="1149513"/>
            <a:ext cx="541020" cy="2990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12065" marR="5080">
              <a:lnSpc>
                <a:spcPct val="103600"/>
              </a:lnSpc>
              <a:spcBef>
                <a:spcPts val="75"/>
              </a:spcBef>
            </a:pPr>
            <a:r>
              <a:rPr dirty="0" sz="600" spc="-10" b="1">
                <a:latin typeface="Arial"/>
                <a:cs typeface="Arial"/>
              </a:rPr>
              <a:t>Mask-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Weighted</a:t>
            </a:r>
            <a:r>
              <a:rPr dirty="0" sz="600" spc="15" b="1">
                <a:latin typeface="Arial"/>
                <a:cs typeface="Arial"/>
              </a:rPr>
              <a:t> </a:t>
            </a:r>
            <a:r>
              <a:rPr dirty="0" sz="600" spc="-20" b="1">
                <a:latin typeface="Arial"/>
                <a:cs typeface="Arial"/>
              </a:rPr>
              <a:t>Pool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550" spc="-25">
                <a:latin typeface="Tahoma"/>
                <a:cs typeface="Tahoma"/>
              </a:rPr>
              <a:t>768-</a:t>
            </a:r>
            <a:r>
              <a:rPr dirty="0" sz="550">
                <a:latin typeface="Tahoma"/>
                <a:cs typeface="Tahoma"/>
              </a:rPr>
              <a:t>d</a:t>
            </a:r>
            <a:r>
              <a:rPr dirty="0" sz="550" spc="25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vector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806806" y="1171731"/>
            <a:ext cx="688340" cy="264160"/>
            <a:chOff x="3806806" y="1171731"/>
            <a:chExt cx="688340" cy="264160"/>
          </a:xfrm>
        </p:grpSpPr>
        <p:sp>
          <p:nvSpPr>
            <p:cNvPr id="21" name="object 21" descr=""/>
            <p:cNvSpPr/>
            <p:nvPr/>
          </p:nvSpPr>
          <p:spPr>
            <a:xfrm>
              <a:off x="3808394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4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6" y="237546"/>
                  </a:lnTo>
                  <a:lnTo>
                    <a:pt x="685046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solidFill>
              <a:srgbClr val="E5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08394" y="1173318"/>
              <a:ext cx="685165" cy="260985"/>
            </a:xfrm>
            <a:custGeom>
              <a:avLst/>
              <a:gdLst/>
              <a:ahLst/>
              <a:cxnLst/>
              <a:rect l="l" t="t" r="r" b="b"/>
              <a:pathLst>
                <a:path w="685164" h="260984">
                  <a:moveTo>
                    <a:pt x="662164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37546"/>
                  </a:lnTo>
                  <a:lnTo>
                    <a:pt x="1798" y="246453"/>
                  </a:lnTo>
                  <a:lnTo>
                    <a:pt x="6702" y="253727"/>
                  </a:lnTo>
                  <a:lnTo>
                    <a:pt x="13975" y="258631"/>
                  </a:lnTo>
                  <a:lnTo>
                    <a:pt x="22882" y="260429"/>
                  </a:lnTo>
                  <a:lnTo>
                    <a:pt x="662164" y="260429"/>
                  </a:lnTo>
                  <a:lnTo>
                    <a:pt x="671071" y="258631"/>
                  </a:lnTo>
                  <a:lnTo>
                    <a:pt x="678344" y="253727"/>
                  </a:lnTo>
                  <a:lnTo>
                    <a:pt x="683248" y="246453"/>
                  </a:lnTo>
                  <a:lnTo>
                    <a:pt x="685046" y="237546"/>
                  </a:lnTo>
                  <a:lnTo>
                    <a:pt x="685046" y="22882"/>
                  </a:lnTo>
                  <a:lnTo>
                    <a:pt x="683248" y="13975"/>
                  </a:lnTo>
                  <a:lnTo>
                    <a:pt x="678344" y="6702"/>
                  </a:lnTo>
                  <a:lnTo>
                    <a:pt x="671071" y="1798"/>
                  </a:lnTo>
                  <a:lnTo>
                    <a:pt x="662164" y="0"/>
                  </a:lnTo>
                  <a:close/>
                </a:path>
              </a:pathLst>
            </a:custGeom>
            <a:ln w="3175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855955" y="1186807"/>
            <a:ext cx="589915" cy="21590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65"/>
              </a:spcBef>
            </a:pPr>
            <a:r>
              <a:rPr dirty="0" sz="600" spc="-20" b="1">
                <a:latin typeface="Arial"/>
                <a:cs typeface="Arial"/>
              </a:rPr>
              <a:t>FairSER</a:t>
            </a:r>
            <a:r>
              <a:rPr dirty="0" sz="600" spc="35" b="1">
                <a:latin typeface="Arial"/>
                <a:cs typeface="Arial"/>
              </a:rPr>
              <a:t> </a:t>
            </a:r>
            <a:r>
              <a:rPr dirty="0" sz="600" spc="-20" b="1">
                <a:latin typeface="Arial"/>
                <a:cs typeface="Arial"/>
              </a:rPr>
              <a:t>Head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50" spc="-20">
                <a:latin typeface="Tahoma"/>
                <a:cs typeface="Tahoma"/>
              </a:rPr>
              <a:t>768</a:t>
            </a:r>
            <a:r>
              <a:rPr dirty="0" sz="550" spc="-20" i="1">
                <a:latin typeface="Arial"/>
                <a:cs typeface="Arial"/>
              </a:rPr>
              <a:t>→</a:t>
            </a:r>
            <a:r>
              <a:rPr dirty="0" sz="550" spc="-20">
                <a:latin typeface="Tahoma"/>
                <a:cs typeface="Tahoma"/>
              </a:rPr>
              <a:t>512</a:t>
            </a:r>
            <a:r>
              <a:rPr dirty="0" sz="550" spc="-20" i="1">
                <a:latin typeface="Arial"/>
                <a:cs typeface="Arial"/>
              </a:rPr>
              <a:t>→</a:t>
            </a:r>
            <a:r>
              <a:rPr dirty="0" sz="550" spc="-20">
                <a:latin typeface="Tahoma"/>
                <a:cs typeface="Tahoma"/>
              </a:rPr>
              <a:t>256</a:t>
            </a:r>
            <a:r>
              <a:rPr dirty="0" sz="550" spc="-20" i="1">
                <a:latin typeface="Arial"/>
                <a:cs typeface="Arial"/>
              </a:rPr>
              <a:t>→</a:t>
            </a:r>
            <a:r>
              <a:rPr dirty="0" sz="550" spc="-20">
                <a:latin typeface="Tahoma"/>
                <a:cs typeface="Tahoma"/>
              </a:rPr>
              <a:t>4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4668525" y="1147512"/>
            <a:ext cx="732155" cy="312420"/>
            <a:chOff x="4668525" y="1147512"/>
            <a:chExt cx="732155" cy="312420"/>
          </a:xfrm>
        </p:grpSpPr>
        <p:sp>
          <p:nvSpPr>
            <p:cNvPr id="25" name="object 25" descr=""/>
            <p:cNvSpPr/>
            <p:nvPr/>
          </p:nvSpPr>
          <p:spPr>
            <a:xfrm>
              <a:off x="4670112" y="1149099"/>
              <a:ext cx="728980" cy="309245"/>
            </a:xfrm>
            <a:custGeom>
              <a:avLst/>
              <a:gdLst/>
              <a:ahLst/>
              <a:cxnLst/>
              <a:rect l="l" t="t" r="r" b="b"/>
              <a:pathLst>
                <a:path w="728979" h="309244">
                  <a:moveTo>
                    <a:pt x="705571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85984"/>
                  </a:lnTo>
                  <a:lnTo>
                    <a:pt x="1798" y="294892"/>
                  </a:lnTo>
                  <a:lnTo>
                    <a:pt x="6702" y="302165"/>
                  </a:lnTo>
                  <a:lnTo>
                    <a:pt x="13975" y="307069"/>
                  </a:lnTo>
                  <a:lnTo>
                    <a:pt x="22882" y="308867"/>
                  </a:lnTo>
                  <a:lnTo>
                    <a:pt x="705571" y="308867"/>
                  </a:lnTo>
                  <a:lnTo>
                    <a:pt x="714479" y="307069"/>
                  </a:lnTo>
                  <a:lnTo>
                    <a:pt x="721752" y="302165"/>
                  </a:lnTo>
                  <a:lnTo>
                    <a:pt x="726656" y="294892"/>
                  </a:lnTo>
                  <a:lnTo>
                    <a:pt x="728454" y="285984"/>
                  </a:lnTo>
                  <a:lnTo>
                    <a:pt x="728454" y="22882"/>
                  </a:lnTo>
                  <a:lnTo>
                    <a:pt x="726656" y="13975"/>
                  </a:lnTo>
                  <a:lnTo>
                    <a:pt x="721752" y="6702"/>
                  </a:lnTo>
                  <a:lnTo>
                    <a:pt x="714479" y="1798"/>
                  </a:lnTo>
                  <a:lnTo>
                    <a:pt x="705571" y="0"/>
                  </a:lnTo>
                  <a:close/>
                </a:path>
              </a:pathLst>
            </a:custGeom>
            <a:solidFill>
              <a:srgbClr val="E5F8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670113" y="1149099"/>
              <a:ext cx="728980" cy="309245"/>
            </a:xfrm>
            <a:custGeom>
              <a:avLst/>
              <a:gdLst/>
              <a:ahLst/>
              <a:cxnLst/>
              <a:rect l="l" t="t" r="r" b="b"/>
              <a:pathLst>
                <a:path w="728979" h="309244">
                  <a:moveTo>
                    <a:pt x="705571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85984"/>
                  </a:lnTo>
                  <a:lnTo>
                    <a:pt x="1798" y="294892"/>
                  </a:lnTo>
                  <a:lnTo>
                    <a:pt x="6702" y="302165"/>
                  </a:lnTo>
                  <a:lnTo>
                    <a:pt x="13975" y="307069"/>
                  </a:lnTo>
                  <a:lnTo>
                    <a:pt x="22882" y="308867"/>
                  </a:lnTo>
                  <a:lnTo>
                    <a:pt x="705571" y="308867"/>
                  </a:lnTo>
                  <a:lnTo>
                    <a:pt x="714479" y="307069"/>
                  </a:lnTo>
                  <a:lnTo>
                    <a:pt x="721752" y="302165"/>
                  </a:lnTo>
                  <a:lnTo>
                    <a:pt x="726656" y="294892"/>
                  </a:lnTo>
                  <a:lnTo>
                    <a:pt x="728454" y="285984"/>
                  </a:lnTo>
                  <a:lnTo>
                    <a:pt x="728454" y="22882"/>
                  </a:lnTo>
                  <a:lnTo>
                    <a:pt x="726656" y="13975"/>
                  </a:lnTo>
                  <a:lnTo>
                    <a:pt x="721752" y="6702"/>
                  </a:lnTo>
                  <a:lnTo>
                    <a:pt x="714479" y="1798"/>
                  </a:lnTo>
                  <a:lnTo>
                    <a:pt x="705571" y="0"/>
                  </a:lnTo>
                  <a:close/>
                </a:path>
              </a:pathLst>
            </a:custGeom>
            <a:ln w="3175">
              <a:solidFill>
                <a:srgbClr val="1E8C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737513" y="1132464"/>
            <a:ext cx="593725" cy="307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600" spc="-10" b="1">
                <a:latin typeface="Arial"/>
                <a:cs typeface="Arial"/>
              </a:rPr>
              <a:t>Emotion</a:t>
            </a:r>
            <a:r>
              <a:rPr dirty="0" sz="6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Output</a:t>
            </a:r>
            <a:endParaRPr sz="6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  <a:spcBef>
                <a:spcPts val="50"/>
              </a:spcBef>
            </a:pPr>
            <a:r>
              <a:rPr dirty="0" sz="550">
                <a:latin typeface="Tahoma"/>
                <a:cs typeface="Tahoma"/>
              </a:rPr>
              <a:t>Angry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 spc="60">
                <a:latin typeface="Tahoma"/>
                <a:cs typeface="Tahoma"/>
              </a:rPr>
              <a:t>/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Happy</a:t>
            </a:r>
            <a:endParaRPr sz="550">
              <a:latin typeface="Tahoma"/>
              <a:cs typeface="Tahoma"/>
            </a:endParaRPr>
          </a:p>
          <a:p>
            <a:pPr marL="59055">
              <a:lnSpc>
                <a:spcPct val="100000"/>
              </a:lnSpc>
              <a:spcBef>
                <a:spcPts val="60"/>
              </a:spcBef>
            </a:pPr>
            <a:r>
              <a:rPr dirty="0" sz="550" spc="60">
                <a:latin typeface="Tahoma"/>
                <a:cs typeface="Tahoma"/>
              </a:rPr>
              <a:t>/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>
                <a:latin typeface="Tahoma"/>
                <a:cs typeface="Tahoma"/>
              </a:rPr>
              <a:t>Neutral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60">
                <a:latin typeface="Tahoma"/>
                <a:cs typeface="Tahoma"/>
              </a:rPr>
              <a:t>/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25">
                <a:latin typeface="Tahoma"/>
                <a:cs typeface="Tahoma"/>
              </a:rPr>
              <a:t>Sad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105071" y="1728805"/>
            <a:ext cx="645160" cy="292100"/>
            <a:chOff x="2105071" y="1728805"/>
            <a:chExt cx="645160" cy="292100"/>
          </a:xfrm>
        </p:grpSpPr>
        <p:sp>
          <p:nvSpPr>
            <p:cNvPr id="29" name="object 29" descr=""/>
            <p:cNvSpPr/>
            <p:nvPr/>
          </p:nvSpPr>
          <p:spPr>
            <a:xfrm>
              <a:off x="2106658" y="1730393"/>
              <a:ext cx="641985" cy="288925"/>
            </a:xfrm>
            <a:custGeom>
              <a:avLst/>
              <a:gdLst/>
              <a:ahLst/>
              <a:cxnLst/>
              <a:rect l="l" t="t" r="r" b="b"/>
              <a:pathLst>
                <a:path w="641985" h="288925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65433"/>
                  </a:lnTo>
                  <a:lnTo>
                    <a:pt x="1798" y="274340"/>
                  </a:lnTo>
                  <a:lnTo>
                    <a:pt x="6702" y="281613"/>
                  </a:lnTo>
                  <a:lnTo>
                    <a:pt x="13975" y="286517"/>
                  </a:lnTo>
                  <a:lnTo>
                    <a:pt x="22882" y="288315"/>
                  </a:lnTo>
                  <a:lnTo>
                    <a:pt x="618759" y="288315"/>
                  </a:lnTo>
                  <a:lnTo>
                    <a:pt x="627666" y="286517"/>
                  </a:lnTo>
                  <a:lnTo>
                    <a:pt x="634940" y="281613"/>
                  </a:lnTo>
                  <a:lnTo>
                    <a:pt x="639844" y="274340"/>
                  </a:lnTo>
                  <a:lnTo>
                    <a:pt x="641642" y="265433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solidFill>
              <a:srgbClr val="FF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106658" y="1730393"/>
              <a:ext cx="641985" cy="288925"/>
            </a:xfrm>
            <a:custGeom>
              <a:avLst/>
              <a:gdLst/>
              <a:ahLst/>
              <a:cxnLst/>
              <a:rect l="l" t="t" r="r" b="b"/>
              <a:pathLst>
                <a:path w="641985" h="288925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65433"/>
                  </a:lnTo>
                  <a:lnTo>
                    <a:pt x="1798" y="274340"/>
                  </a:lnTo>
                  <a:lnTo>
                    <a:pt x="6702" y="281613"/>
                  </a:lnTo>
                  <a:lnTo>
                    <a:pt x="13975" y="286517"/>
                  </a:lnTo>
                  <a:lnTo>
                    <a:pt x="22882" y="288315"/>
                  </a:lnTo>
                  <a:lnTo>
                    <a:pt x="618759" y="288315"/>
                  </a:lnTo>
                  <a:lnTo>
                    <a:pt x="627666" y="286517"/>
                  </a:lnTo>
                  <a:lnTo>
                    <a:pt x="634940" y="281613"/>
                  </a:lnTo>
                  <a:lnTo>
                    <a:pt x="639844" y="274340"/>
                  </a:lnTo>
                  <a:lnTo>
                    <a:pt x="641642" y="265433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ln w="3175">
              <a:solidFill>
                <a:srgbClr val="B427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142090" y="1724554"/>
            <a:ext cx="571500" cy="275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550" spc="-20" b="1">
                <a:latin typeface="Arial"/>
                <a:cs typeface="Arial"/>
              </a:rPr>
              <a:t>LoRA</a:t>
            </a:r>
            <a:r>
              <a:rPr dirty="0" sz="550" spc="5" b="1">
                <a:latin typeface="Arial"/>
                <a:cs typeface="Arial"/>
              </a:rPr>
              <a:t> </a:t>
            </a:r>
            <a:r>
              <a:rPr dirty="0" sz="550" spc="-10" b="1">
                <a:latin typeface="Arial"/>
                <a:cs typeface="Arial"/>
              </a:rPr>
              <a:t>Adapters</a:t>
            </a:r>
            <a:endParaRPr sz="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550" spc="-10">
                <a:latin typeface="Tahoma"/>
                <a:cs typeface="Tahoma"/>
              </a:rPr>
              <a:t>rank</a:t>
            </a:r>
            <a:r>
              <a:rPr dirty="0" sz="550" spc="-2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16,</a:t>
            </a:r>
            <a:r>
              <a:rPr dirty="0" sz="550" spc="-20">
                <a:latin typeface="Tahoma"/>
                <a:cs typeface="Tahoma"/>
              </a:rPr>
              <a:t> </a:t>
            </a:r>
            <a:r>
              <a:rPr dirty="0" sz="550" spc="-25" i="1">
                <a:latin typeface="Arial"/>
                <a:cs typeface="Arial"/>
              </a:rPr>
              <a:t>α</a:t>
            </a:r>
            <a:r>
              <a:rPr dirty="0" sz="550" spc="-25">
                <a:latin typeface="Tahoma"/>
                <a:cs typeface="Tahoma"/>
              </a:rPr>
              <a:t>32</a:t>
            </a:r>
            <a:endParaRPr sz="5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550" spc="-25">
                <a:latin typeface="Tahoma"/>
                <a:cs typeface="Tahoma"/>
              </a:rPr>
              <a:t>Layers</a:t>
            </a:r>
            <a:r>
              <a:rPr dirty="0" sz="550">
                <a:latin typeface="Tahoma"/>
                <a:cs typeface="Tahoma"/>
              </a:rPr>
              <a:t> </a:t>
            </a:r>
            <a:r>
              <a:rPr dirty="0" sz="550" spc="-20">
                <a:latin typeface="Tahoma"/>
                <a:cs typeface="Tahoma"/>
              </a:rPr>
              <a:t>8–11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 spc="-20">
                <a:latin typeface="Tahoma"/>
                <a:cs typeface="Tahoma"/>
              </a:rPr>
              <a:t>(Q,V)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966790" y="1722131"/>
            <a:ext cx="645160" cy="367030"/>
            <a:chOff x="2966790" y="1722131"/>
            <a:chExt cx="645160" cy="367030"/>
          </a:xfrm>
        </p:grpSpPr>
        <p:sp>
          <p:nvSpPr>
            <p:cNvPr id="33" name="object 33" descr=""/>
            <p:cNvSpPr/>
            <p:nvPr/>
          </p:nvSpPr>
          <p:spPr>
            <a:xfrm>
              <a:off x="2968377" y="1723718"/>
              <a:ext cx="641985" cy="363855"/>
            </a:xfrm>
            <a:custGeom>
              <a:avLst/>
              <a:gdLst/>
              <a:ahLst/>
              <a:cxnLst/>
              <a:rect l="l" t="t" r="r" b="b"/>
              <a:pathLst>
                <a:path w="641985" h="363855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340861"/>
                  </a:lnTo>
                  <a:lnTo>
                    <a:pt x="1798" y="349768"/>
                  </a:lnTo>
                  <a:lnTo>
                    <a:pt x="6702" y="357041"/>
                  </a:lnTo>
                  <a:lnTo>
                    <a:pt x="13975" y="361945"/>
                  </a:lnTo>
                  <a:lnTo>
                    <a:pt x="22882" y="363744"/>
                  </a:lnTo>
                  <a:lnTo>
                    <a:pt x="618759" y="363744"/>
                  </a:lnTo>
                  <a:lnTo>
                    <a:pt x="627666" y="361945"/>
                  </a:lnTo>
                  <a:lnTo>
                    <a:pt x="634940" y="357041"/>
                  </a:lnTo>
                  <a:lnTo>
                    <a:pt x="639844" y="349768"/>
                  </a:lnTo>
                  <a:lnTo>
                    <a:pt x="641642" y="340861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solidFill>
              <a:srgbClr val="FF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68377" y="1723718"/>
              <a:ext cx="641985" cy="363855"/>
            </a:xfrm>
            <a:custGeom>
              <a:avLst/>
              <a:gdLst/>
              <a:ahLst/>
              <a:cxnLst/>
              <a:rect l="l" t="t" r="r" b="b"/>
              <a:pathLst>
                <a:path w="641985" h="363855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340861"/>
                  </a:lnTo>
                  <a:lnTo>
                    <a:pt x="1798" y="349768"/>
                  </a:lnTo>
                  <a:lnTo>
                    <a:pt x="6702" y="357041"/>
                  </a:lnTo>
                  <a:lnTo>
                    <a:pt x="13975" y="361945"/>
                  </a:lnTo>
                  <a:lnTo>
                    <a:pt x="22882" y="363744"/>
                  </a:lnTo>
                  <a:lnTo>
                    <a:pt x="618759" y="363744"/>
                  </a:lnTo>
                  <a:lnTo>
                    <a:pt x="627666" y="361945"/>
                  </a:lnTo>
                  <a:lnTo>
                    <a:pt x="634940" y="357041"/>
                  </a:lnTo>
                  <a:lnTo>
                    <a:pt x="639844" y="349768"/>
                  </a:lnTo>
                  <a:lnTo>
                    <a:pt x="641642" y="340861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ln w="3175">
              <a:solidFill>
                <a:srgbClr val="B427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3034566" y="1717878"/>
            <a:ext cx="509270" cy="3600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90"/>
              </a:spcBef>
            </a:pPr>
            <a:r>
              <a:rPr dirty="0" sz="550" spc="-10" b="1">
                <a:latin typeface="Arial"/>
                <a:cs typeface="Arial"/>
              </a:rPr>
              <a:t>CLUES</a:t>
            </a:r>
            <a:r>
              <a:rPr dirty="0" sz="550" spc="-15" b="1">
                <a:latin typeface="Arial"/>
                <a:cs typeface="Arial"/>
              </a:rPr>
              <a:t> </a:t>
            </a:r>
            <a:r>
              <a:rPr dirty="0" sz="550" spc="-20" b="1">
                <a:latin typeface="Arial"/>
                <a:cs typeface="Arial"/>
              </a:rPr>
              <a:t>Loss</a:t>
            </a:r>
            <a:r>
              <a:rPr dirty="0" sz="550" spc="500" b="1">
                <a:latin typeface="Arial"/>
                <a:cs typeface="Arial"/>
              </a:rPr>
              <a:t> </a:t>
            </a:r>
            <a:r>
              <a:rPr dirty="0" sz="550" spc="-25">
                <a:latin typeface="Tahoma"/>
                <a:cs typeface="Tahoma"/>
              </a:rPr>
              <a:t>cross-</a:t>
            </a:r>
            <a:r>
              <a:rPr dirty="0" sz="550" spc="-20">
                <a:latin typeface="Tahoma"/>
                <a:cs typeface="Tahoma"/>
              </a:rPr>
              <a:t>lang</a:t>
            </a:r>
            <a:r>
              <a:rPr dirty="0" sz="550" spc="500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contrastive</a:t>
            </a:r>
            <a:r>
              <a:rPr dirty="0" sz="550" spc="500">
                <a:latin typeface="Tahoma"/>
                <a:cs typeface="Tahoma"/>
              </a:rPr>
              <a:t> </a:t>
            </a:r>
            <a:r>
              <a:rPr dirty="0" sz="550" i="1">
                <a:latin typeface="Arial"/>
                <a:cs typeface="Arial"/>
              </a:rPr>
              <a:t>λ</a:t>
            </a:r>
            <a:r>
              <a:rPr dirty="0" sz="550">
                <a:latin typeface="Tahoma"/>
                <a:cs typeface="Tahoma"/>
              </a:rPr>
              <a:t>=0</a:t>
            </a:r>
            <a:r>
              <a:rPr dirty="0" sz="550" i="1">
                <a:latin typeface="Arial"/>
                <a:cs typeface="Arial"/>
              </a:rPr>
              <a:t>.</a:t>
            </a:r>
            <a:r>
              <a:rPr dirty="0" sz="550">
                <a:latin typeface="Tahoma"/>
                <a:cs typeface="Tahoma"/>
              </a:rPr>
              <a:t>05,</a:t>
            </a:r>
            <a:r>
              <a:rPr dirty="0" sz="550" spc="40">
                <a:latin typeface="Tahoma"/>
                <a:cs typeface="Tahoma"/>
              </a:rPr>
              <a:t> </a:t>
            </a:r>
            <a:r>
              <a:rPr dirty="0" sz="550" i="1">
                <a:latin typeface="Arial"/>
                <a:cs typeface="Arial"/>
              </a:rPr>
              <a:t>τ</a:t>
            </a:r>
            <a:r>
              <a:rPr dirty="0" sz="550" spc="-90" i="1">
                <a:latin typeface="Arial"/>
                <a:cs typeface="Arial"/>
              </a:rPr>
              <a:t> </a:t>
            </a:r>
            <a:r>
              <a:rPr dirty="0" sz="550" spc="-10">
                <a:latin typeface="Tahoma"/>
                <a:cs typeface="Tahoma"/>
              </a:rPr>
              <a:t>=0</a:t>
            </a:r>
            <a:r>
              <a:rPr dirty="0" sz="550" spc="-10" i="1">
                <a:latin typeface="Arial"/>
                <a:cs typeface="Arial"/>
              </a:rPr>
              <a:t>.</a:t>
            </a:r>
            <a:r>
              <a:rPr dirty="0" sz="550" spc="-10">
                <a:latin typeface="Tahoma"/>
                <a:cs typeface="Tahoma"/>
              </a:rPr>
              <a:t>10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828508" y="1706493"/>
            <a:ext cx="645160" cy="274955"/>
            <a:chOff x="3828508" y="1706493"/>
            <a:chExt cx="645160" cy="274955"/>
          </a:xfrm>
        </p:grpSpPr>
        <p:sp>
          <p:nvSpPr>
            <p:cNvPr id="37" name="object 37" descr=""/>
            <p:cNvSpPr/>
            <p:nvPr/>
          </p:nvSpPr>
          <p:spPr>
            <a:xfrm>
              <a:off x="3830096" y="1708080"/>
              <a:ext cx="641985" cy="271780"/>
            </a:xfrm>
            <a:custGeom>
              <a:avLst/>
              <a:gdLst/>
              <a:ahLst/>
              <a:cxnLst/>
              <a:rect l="l" t="t" r="r" b="b"/>
              <a:pathLst>
                <a:path w="641985" h="271780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48271"/>
                  </a:lnTo>
                  <a:lnTo>
                    <a:pt x="1798" y="257178"/>
                  </a:lnTo>
                  <a:lnTo>
                    <a:pt x="6702" y="264451"/>
                  </a:lnTo>
                  <a:lnTo>
                    <a:pt x="13975" y="269355"/>
                  </a:lnTo>
                  <a:lnTo>
                    <a:pt x="22882" y="271153"/>
                  </a:lnTo>
                  <a:lnTo>
                    <a:pt x="618759" y="271153"/>
                  </a:lnTo>
                  <a:lnTo>
                    <a:pt x="627666" y="269355"/>
                  </a:lnTo>
                  <a:lnTo>
                    <a:pt x="634940" y="264451"/>
                  </a:lnTo>
                  <a:lnTo>
                    <a:pt x="639844" y="257178"/>
                  </a:lnTo>
                  <a:lnTo>
                    <a:pt x="641642" y="248271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solidFill>
              <a:srgbClr val="FF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830096" y="1708080"/>
              <a:ext cx="641985" cy="271780"/>
            </a:xfrm>
            <a:custGeom>
              <a:avLst/>
              <a:gdLst/>
              <a:ahLst/>
              <a:cxnLst/>
              <a:rect l="l" t="t" r="r" b="b"/>
              <a:pathLst>
                <a:path w="641985" h="271780">
                  <a:moveTo>
                    <a:pt x="618759" y="0"/>
                  </a:moveTo>
                  <a:lnTo>
                    <a:pt x="22882" y="0"/>
                  </a:lnTo>
                  <a:lnTo>
                    <a:pt x="13975" y="1798"/>
                  </a:lnTo>
                  <a:lnTo>
                    <a:pt x="6702" y="6702"/>
                  </a:lnTo>
                  <a:lnTo>
                    <a:pt x="1798" y="13975"/>
                  </a:lnTo>
                  <a:lnTo>
                    <a:pt x="0" y="22882"/>
                  </a:lnTo>
                  <a:lnTo>
                    <a:pt x="0" y="248271"/>
                  </a:lnTo>
                  <a:lnTo>
                    <a:pt x="1798" y="257178"/>
                  </a:lnTo>
                  <a:lnTo>
                    <a:pt x="6702" y="264451"/>
                  </a:lnTo>
                  <a:lnTo>
                    <a:pt x="13975" y="269355"/>
                  </a:lnTo>
                  <a:lnTo>
                    <a:pt x="22882" y="271153"/>
                  </a:lnTo>
                  <a:lnTo>
                    <a:pt x="618759" y="271153"/>
                  </a:lnTo>
                  <a:lnTo>
                    <a:pt x="627666" y="269355"/>
                  </a:lnTo>
                  <a:lnTo>
                    <a:pt x="634940" y="264451"/>
                  </a:lnTo>
                  <a:lnTo>
                    <a:pt x="639844" y="257178"/>
                  </a:lnTo>
                  <a:lnTo>
                    <a:pt x="641642" y="248271"/>
                  </a:lnTo>
                  <a:lnTo>
                    <a:pt x="641642" y="22882"/>
                  </a:lnTo>
                  <a:lnTo>
                    <a:pt x="639844" y="13975"/>
                  </a:lnTo>
                  <a:lnTo>
                    <a:pt x="634940" y="6702"/>
                  </a:lnTo>
                  <a:lnTo>
                    <a:pt x="627666" y="1798"/>
                  </a:lnTo>
                  <a:lnTo>
                    <a:pt x="618759" y="0"/>
                  </a:lnTo>
                  <a:close/>
                </a:path>
              </a:pathLst>
            </a:custGeom>
            <a:ln w="3175">
              <a:solidFill>
                <a:srgbClr val="B427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862164" y="1702236"/>
            <a:ext cx="577850" cy="275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13030">
              <a:lnSpc>
                <a:spcPct val="100000"/>
              </a:lnSpc>
              <a:spcBef>
                <a:spcPts val="90"/>
              </a:spcBef>
            </a:pPr>
            <a:r>
              <a:rPr dirty="0" sz="550" spc="-20" b="1">
                <a:latin typeface="Arial"/>
                <a:cs typeface="Arial"/>
              </a:rPr>
              <a:t>Focal</a:t>
            </a:r>
            <a:r>
              <a:rPr dirty="0" sz="550" spc="5" b="1">
                <a:latin typeface="Arial"/>
                <a:cs typeface="Arial"/>
              </a:rPr>
              <a:t> </a:t>
            </a:r>
            <a:r>
              <a:rPr dirty="0" sz="550" spc="-20" b="1">
                <a:latin typeface="Arial"/>
                <a:cs typeface="Arial"/>
              </a:rPr>
              <a:t>Loss</a:t>
            </a:r>
            <a:r>
              <a:rPr dirty="0" sz="550" spc="500" b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γ</a:t>
            </a:r>
            <a:r>
              <a:rPr dirty="0" sz="550">
                <a:latin typeface="Tahoma"/>
                <a:cs typeface="Tahoma"/>
              </a:rPr>
              <a:t>=2,</a:t>
            </a:r>
            <a:r>
              <a:rPr dirty="0" sz="550" spc="5">
                <a:latin typeface="Tahoma"/>
                <a:cs typeface="Tahoma"/>
              </a:rPr>
              <a:t> </a:t>
            </a:r>
            <a:r>
              <a:rPr dirty="0" sz="550" spc="-10">
                <a:latin typeface="Tahoma"/>
                <a:cs typeface="Tahoma"/>
              </a:rPr>
              <a:t>class</a:t>
            </a:r>
            <a:r>
              <a:rPr dirty="0" sz="550" spc="10">
                <a:latin typeface="Tahoma"/>
                <a:cs typeface="Tahoma"/>
              </a:rPr>
              <a:t> </a:t>
            </a:r>
            <a:r>
              <a:rPr dirty="0" sz="550" spc="-35">
                <a:latin typeface="Tahoma"/>
                <a:cs typeface="Tahoma"/>
              </a:rPr>
              <a:t>weights</a:t>
            </a:r>
            <a:r>
              <a:rPr dirty="0" sz="550" spc="500">
                <a:latin typeface="Tahoma"/>
                <a:cs typeface="Tahoma"/>
              </a:rPr>
              <a:t> </a:t>
            </a:r>
            <a:r>
              <a:rPr dirty="0" sz="550" spc="-20">
                <a:latin typeface="Tahoma"/>
                <a:cs typeface="Tahoma"/>
              </a:rPr>
              <a:t>label-smooth</a:t>
            </a:r>
            <a:r>
              <a:rPr dirty="0" sz="550" spc="65">
                <a:latin typeface="Tahoma"/>
                <a:cs typeface="Tahoma"/>
              </a:rPr>
              <a:t> </a:t>
            </a:r>
            <a:r>
              <a:rPr dirty="0" sz="550" spc="-20">
                <a:latin typeface="Tahoma"/>
                <a:cs typeface="Tahoma"/>
              </a:rPr>
              <a:t>0.15</a:t>
            </a:r>
            <a:endParaRPr sz="550">
              <a:latin typeface="Tahoma"/>
              <a:cs typeface="Tahoma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044916" y="1290221"/>
            <a:ext cx="3618229" cy="441959"/>
            <a:chOff x="1044916" y="1290221"/>
            <a:chExt cx="3618229" cy="441959"/>
          </a:xfrm>
        </p:grpSpPr>
        <p:sp>
          <p:nvSpPr>
            <p:cNvPr id="41" name="object 41" descr=""/>
            <p:cNvSpPr/>
            <p:nvPr/>
          </p:nvSpPr>
          <p:spPr>
            <a:xfrm>
              <a:off x="1048091" y="1303533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 h="0">
                  <a:moveTo>
                    <a:pt x="0" y="0"/>
                  </a:moveTo>
                  <a:lnTo>
                    <a:pt x="145549" y="0"/>
                  </a:lnTo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186257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0" y="0"/>
                  </a:move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86257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26765" y="10136"/>
                  </a:moveTo>
                  <a:lnTo>
                    <a:pt x="0" y="0"/>
                  </a:ln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close/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909810" y="1303533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 h="0">
                  <a:moveTo>
                    <a:pt x="0" y="0"/>
                  </a:moveTo>
                  <a:lnTo>
                    <a:pt x="145549" y="0"/>
                  </a:lnTo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047976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0" y="0"/>
                  </a:move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047976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26765" y="10136"/>
                  </a:moveTo>
                  <a:lnTo>
                    <a:pt x="0" y="0"/>
                  </a:ln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close/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771528" y="1303533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 h="0">
                  <a:moveTo>
                    <a:pt x="0" y="0"/>
                  </a:moveTo>
                  <a:lnTo>
                    <a:pt x="145549" y="0"/>
                  </a:lnTo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909695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0" y="0"/>
                  </a:move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909695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5" h="20319">
                  <a:moveTo>
                    <a:pt x="26765" y="10136"/>
                  </a:moveTo>
                  <a:lnTo>
                    <a:pt x="0" y="0"/>
                  </a:ln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close/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633247" y="1303533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 h="0">
                  <a:moveTo>
                    <a:pt x="0" y="0"/>
                  </a:moveTo>
                  <a:lnTo>
                    <a:pt x="145549" y="0"/>
                  </a:lnTo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771414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19">
                  <a:moveTo>
                    <a:pt x="0" y="0"/>
                  </a:move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771414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19">
                  <a:moveTo>
                    <a:pt x="26765" y="10136"/>
                  </a:moveTo>
                  <a:lnTo>
                    <a:pt x="0" y="0"/>
                  </a:ln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close/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494966" y="1303533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 h="0">
                  <a:moveTo>
                    <a:pt x="0" y="0"/>
                  </a:moveTo>
                  <a:lnTo>
                    <a:pt x="145549" y="0"/>
                  </a:lnTo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633132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19">
                  <a:moveTo>
                    <a:pt x="0" y="0"/>
                  </a:move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50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633132" y="1293396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19">
                  <a:moveTo>
                    <a:pt x="26765" y="10136"/>
                  </a:moveTo>
                  <a:lnTo>
                    <a:pt x="0" y="0"/>
                  </a:lnTo>
                  <a:lnTo>
                    <a:pt x="8908" y="10136"/>
                  </a:lnTo>
                  <a:lnTo>
                    <a:pt x="0" y="20273"/>
                  </a:lnTo>
                  <a:lnTo>
                    <a:pt x="26765" y="10136"/>
                  </a:lnTo>
                  <a:close/>
                </a:path>
              </a:pathLst>
            </a:custGeom>
            <a:ln w="6101">
              <a:solidFill>
                <a:srgbClr val="1E5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427480" y="1482259"/>
              <a:ext cx="0" cy="247015"/>
            </a:xfrm>
            <a:custGeom>
              <a:avLst/>
              <a:gdLst/>
              <a:ahLst/>
              <a:cxnLst/>
              <a:rect l="l" t="t" r="r" b="b"/>
              <a:pathLst>
                <a:path w="0" h="247014">
                  <a:moveTo>
                    <a:pt x="0" y="246608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CA6868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419230" y="1466275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0" y="21731"/>
                  </a:move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lnTo>
                    <a:pt x="0" y="21731"/>
                  </a:lnTo>
                  <a:close/>
                </a:path>
              </a:pathLst>
            </a:custGeom>
            <a:solidFill>
              <a:srgbClr val="CA68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419230" y="1466275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8249" y="0"/>
                  </a:moveTo>
                  <a:lnTo>
                    <a:pt x="0" y="21731"/>
                  </a:ln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close/>
                </a:path>
              </a:pathLst>
            </a:custGeom>
            <a:ln w="6101">
              <a:solidFill>
                <a:srgbClr val="CA68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2445646" y="1545990"/>
            <a:ext cx="15494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10">
                <a:solidFill>
                  <a:srgbClr val="CA6868"/>
                </a:solidFill>
                <a:latin typeface="Tahoma"/>
                <a:cs typeface="Tahoma"/>
              </a:rPr>
              <a:t>injects</a:t>
            </a:r>
            <a:endParaRPr sz="350">
              <a:latin typeface="Tahoma"/>
              <a:cs typeface="Tahoma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3277774" y="1456426"/>
            <a:ext cx="22860" cy="269240"/>
            <a:chOff x="3277774" y="1456426"/>
            <a:chExt cx="22860" cy="269240"/>
          </a:xfrm>
        </p:grpSpPr>
        <p:sp>
          <p:nvSpPr>
            <p:cNvPr id="61" name="object 61" descr=""/>
            <p:cNvSpPr/>
            <p:nvPr/>
          </p:nvSpPr>
          <p:spPr>
            <a:xfrm>
              <a:off x="3289198" y="1475585"/>
              <a:ext cx="0" cy="247015"/>
            </a:xfrm>
            <a:custGeom>
              <a:avLst/>
              <a:gdLst/>
              <a:ahLst/>
              <a:cxnLst/>
              <a:rect l="l" t="t" r="r" b="b"/>
              <a:pathLst>
                <a:path w="0" h="247014">
                  <a:moveTo>
                    <a:pt x="0" y="246608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CA6868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280949" y="1459601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0" y="21731"/>
                  </a:move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lnTo>
                    <a:pt x="0" y="21731"/>
                  </a:lnTo>
                  <a:close/>
                </a:path>
              </a:pathLst>
            </a:custGeom>
            <a:solidFill>
              <a:srgbClr val="CA68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280949" y="1459601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8249" y="0"/>
                  </a:moveTo>
                  <a:lnTo>
                    <a:pt x="0" y="21731"/>
                  </a:ln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close/>
                </a:path>
              </a:pathLst>
            </a:custGeom>
            <a:ln w="6101">
              <a:solidFill>
                <a:srgbClr val="CA68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3307351" y="1543976"/>
            <a:ext cx="1778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10">
                <a:solidFill>
                  <a:srgbClr val="CA6868"/>
                </a:solidFill>
                <a:latin typeface="Tahoma"/>
                <a:cs typeface="Tahoma"/>
              </a:rPr>
              <a:t>embeds</a:t>
            </a:r>
            <a:endParaRPr sz="350">
              <a:latin typeface="Tahoma"/>
              <a:cs typeface="Tahoma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4139493" y="1440788"/>
            <a:ext cx="22860" cy="269240"/>
            <a:chOff x="4139493" y="1440788"/>
            <a:chExt cx="22860" cy="269240"/>
          </a:xfrm>
        </p:grpSpPr>
        <p:sp>
          <p:nvSpPr>
            <p:cNvPr id="66" name="object 66" descr=""/>
            <p:cNvSpPr/>
            <p:nvPr/>
          </p:nvSpPr>
          <p:spPr>
            <a:xfrm>
              <a:off x="4150917" y="1459946"/>
              <a:ext cx="0" cy="247015"/>
            </a:xfrm>
            <a:custGeom>
              <a:avLst/>
              <a:gdLst/>
              <a:ahLst/>
              <a:cxnLst/>
              <a:rect l="l" t="t" r="r" b="b"/>
              <a:pathLst>
                <a:path w="0" h="247014">
                  <a:moveTo>
                    <a:pt x="0" y="246608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CA6868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142668" y="144396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0" y="21731"/>
                  </a:move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lnTo>
                    <a:pt x="0" y="21731"/>
                  </a:lnTo>
                  <a:close/>
                </a:path>
              </a:pathLst>
            </a:custGeom>
            <a:solidFill>
              <a:srgbClr val="CA68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142668" y="144396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10" h="22225">
                  <a:moveTo>
                    <a:pt x="8249" y="0"/>
                  </a:moveTo>
                  <a:lnTo>
                    <a:pt x="0" y="21731"/>
                  </a:lnTo>
                  <a:lnTo>
                    <a:pt x="8249" y="14458"/>
                  </a:lnTo>
                  <a:lnTo>
                    <a:pt x="16498" y="21731"/>
                  </a:lnTo>
                  <a:lnTo>
                    <a:pt x="8249" y="0"/>
                  </a:lnTo>
                  <a:close/>
                </a:path>
              </a:pathLst>
            </a:custGeom>
            <a:ln w="6101">
              <a:solidFill>
                <a:srgbClr val="CA68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4169057" y="1528343"/>
            <a:ext cx="9906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20">
                <a:solidFill>
                  <a:srgbClr val="CA6868"/>
                </a:solidFill>
                <a:latin typeface="Tahoma"/>
                <a:cs typeface="Tahoma"/>
              </a:rPr>
              <a:t>loss</a:t>
            </a:r>
            <a:endParaRPr sz="350">
              <a:latin typeface="Tahoma"/>
              <a:cs typeface="Tahoma"/>
            </a:endParaRPr>
          </a:p>
        </p:txBody>
      </p:sp>
      <p:pic>
        <p:nvPicPr>
          <p:cNvPr id="70" name="object 7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8494" y="1832357"/>
            <a:ext cx="214437" cy="76284"/>
          </a:xfrm>
          <a:prstGeom prst="rect">
            <a:avLst/>
          </a:prstGeom>
        </p:spPr>
      </p:pic>
      <p:sp>
        <p:nvSpPr>
          <p:cNvPr id="71" name="object 71" descr=""/>
          <p:cNvSpPr txBox="1"/>
          <p:nvPr/>
        </p:nvSpPr>
        <p:spPr>
          <a:xfrm>
            <a:off x="3727356" y="1833789"/>
            <a:ext cx="63500" cy="80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" spc="-50">
                <a:solidFill>
                  <a:srgbClr val="D24C79"/>
                </a:solidFill>
                <a:latin typeface="Tahoma"/>
                <a:cs typeface="Tahoma"/>
              </a:rPr>
              <a:t>+</a:t>
            </a:r>
            <a:endParaRPr sz="350">
              <a:latin typeface="Tahoma"/>
              <a:cs typeface="Tahoma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3" name="object 7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74" name="object 7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75" name="object 7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Training</a:t>
            </a:r>
            <a:r>
              <a:rPr dirty="0" spc="-40"/>
              <a:t> </a:t>
            </a:r>
            <a:r>
              <a:rPr dirty="0" spc="-45"/>
              <a:t>Summary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75945" y="2135340"/>
            <a:ext cx="1535430" cy="77851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61290" indent="-123189">
              <a:lnSpc>
                <a:spcPct val="100000"/>
              </a:lnSpc>
              <a:spcBef>
                <a:spcPts val="484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Stage</a:t>
            </a:r>
            <a:r>
              <a:rPr dirty="0" sz="800" spc="-2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2</a:t>
            </a:r>
            <a:r>
              <a:rPr dirty="0" sz="800" spc="-1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gives</a:t>
            </a:r>
            <a:r>
              <a:rPr dirty="0" sz="800" spc="-1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the</a:t>
            </a:r>
            <a:r>
              <a:rPr dirty="0" sz="800" spc="-1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biggest</a:t>
            </a:r>
            <a:r>
              <a:rPr dirty="0" sz="800" spc="-15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gain</a:t>
            </a:r>
            <a:endParaRPr sz="800">
              <a:latin typeface="Tahoma"/>
              <a:cs typeface="Tahoma"/>
            </a:endParaRPr>
          </a:p>
          <a:p>
            <a:pPr marL="160655" marR="214629" indent="-123189">
              <a:lnSpc>
                <a:spcPts val="950"/>
              </a:lnSpc>
              <a:spcBef>
                <a:spcPts val="425"/>
              </a:spcBef>
              <a:buClr>
                <a:srgbClr val="666666"/>
              </a:buClr>
              <a:buFont typeface="Arial"/>
              <a:buChar char="•"/>
              <a:tabLst>
                <a:tab pos="160655" algn="l"/>
              </a:tabLst>
            </a:pPr>
            <a:r>
              <a:rPr dirty="0" sz="800">
                <a:latin typeface="Tahoma"/>
                <a:cs typeface="Tahoma"/>
              </a:rPr>
              <a:t>Stage</a:t>
            </a:r>
            <a:r>
              <a:rPr dirty="0" sz="800" spc="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3</a:t>
            </a:r>
            <a:r>
              <a:rPr dirty="0" sz="800" spc="5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narrows</a:t>
            </a:r>
            <a:r>
              <a:rPr dirty="0" sz="800" spc="5">
                <a:latin typeface="Tahoma"/>
                <a:cs typeface="Tahoma"/>
              </a:rPr>
              <a:t> </a:t>
            </a:r>
            <a:r>
              <a:rPr dirty="0" sz="800" spc="-15">
                <a:latin typeface="Tahoma"/>
                <a:cs typeface="Tahoma"/>
              </a:rPr>
              <a:t>language </a:t>
            </a:r>
            <a:r>
              <a:rPr dirty="0" sz="800" spc="-20">
                <a:latin typeface="Tahoma"/>
                <a:cs typeface="Tahoma"/>
              </a:rPr>
              <a:t>bias</a:t>
            </a:r>
            <a:endParaRPr sz="800">
              <a:latin typeface="Tahoma"/>
              <a:cs typeface="Tahoma"/>
            </a:endParaRPr>
          </a:p>
          <a:p>
            <a:pPr marL="160655" marR="171450" indent="-123189">
              <a:lnSpc>
                <a:spcPts val="950"/>
              </a:lnSpc>
              <a:spcBef>
                <a:spcPts val="390"/>
              </a:spcBef>
              <a:buClr>
                <a:srgbClr val="666666"/>
              </a:buClr>
              <a:buFont typeface="Arial"/>
              <a:buChar char="•"/>
              <a:tabLst>
                <a:tab pos="160655" algn="l"/>
              </a:tabLst>
            </a:pPr>
            <a:r>
              <a:rPr dirty="0" sz="800">
                <a:latin typeface="Tahoma"/>
                <a:cs typeface="Tahoma"/>
              </a:rPr>
              <a:t>Stage 4 </a:t>
            </a:r>
            <a:r>
              <a:rPr dirty="0" sz="800" spc="-10">
                <a:latin typeface="Tahoma"/>
                <a:cs typeface="Tahoma"/>
              </a:rPr>
              <a:t>gives</a:t>
            </a:r>
            <a:r>
              <a:rPr dirty="0" sz="800">
                <a:latin typeface="Tahoma"/>
                <a:cs typeface="Tahoma"/>
              </a:rPr>
              <a:t> the </a:t>
            </a:r>
            <a:r>
              <a:rPr dirty="0" sz="800" spc="-20">
                <a:latin typeface="Tahoma"/>
                <a:cs typeface="Tahoma"/>
              </a:rPr>
              <a:t>best </a:t>
            </a:r>
            <a:r>
              <a:rPr dirty="0" sz="800" spc="-10">
                <a:latin typeface="Tahoma"/>
                <a:cs typeface="Tahoma"/>
              </a:rPr>
              <a:t>fairness/accuracy</a:t>
            </a:r>
            <a:r>
              <a:rPr dirty="0" sz="800" spc="9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trade-</a:t>
            </a:r>
            <a:r>
              <a:rPr dirty="0" sz="800" spc="-25">
                <a:latin typeface="Tahoma"/>
                <a:cs typeface="Tahoma"/>
              </a:rPr>
              <a:t>off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2189530" y="2135340"/>
            <a:ext cx="1496060" cy="5378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61290" indent="-123189">
              <a:lnSpc>
                <a:spcPct val="100000"/>
              </a:lnSpc>
              <a:spcBef>
                <a:spcPts val="484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LoRA</a:t>
            </a:r>
            <a:r>
              <a:rPr dirty="0" sz="800" spc="5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on</a:t>
            </a:r>
            <a:r>
              <a:rPr dirty="0" sz="800" spc="60">
                <a:latin typeface="Tahoma"/>
                <a:cs typeface="Tahoma"/>
              </a:rPr>
              <a:t> </a:t>
            </a:r>
            <a:r>
              <a:rPr dirty="0" sz="800" spc="65">
                <a:latin typeface="Tahoma"/>
                <a:cs typeface="Tahoma"/>
              </a:rPr>
              <a:t>Q/V,</a:t>
            </a:r>
            <a:r>
              <a:rPr dirty="0" sz="800" spc="60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layers</a:t>
            </a:r>
            <a:r>
              <a:rPr dirty="0" sz="800" spc="60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8–11</a:t>
            </a:r>
            <a:endParaRPr sz="800">
              <a:latin typeface="Tahoma"/>
              <a:cs typeface="Tahoma"/>
            </a:endParaRPr>
          </a:p>
          <a:p>
            <a:pPr marL="161290" indent="-123189">
              <a:lnSpc>
                <a:spcPct val="100000"/>
              </a:lnSpc>
              <a:spcBef>
                <a:spcPts val="385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Focal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Loss</a:t>
            </a:r>
            <a:r>
              <a:rPr dirty="0" sz="800" spc="3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with</a:t>
            </a:r>
            <a:r>
              <a:rPr dirty="0" sz="800" spc="35">
                <a:latin typeface="Tahoma"/>
                <a:cs typeface="Tahoma"/>
              </a:rPr>
              <a:t> </a:t>
            </a:r>
            <a:r>
              <a:rPr dirty="0" sz="800" i="1">
                <a:latin typeface="Sitka Text"/>
                <a:cs typeface="Sitka Text"/>
              </a:rPr>
              <a:t>γ</a:t>
            </a:r>
            <a:r>
              <a:rPr dirty="0" sz="800" spc="50" i="1">
                <a:latin typeface="Sitka Text"/>
                <a:cs typeface="Sitka Text"/>
              </a:rPr>
              <a:t> </a:t>
            </a:r>
            <a:r>
              <a:rPr dirty="0" sz="800" spc="70">
                <a:latin typeface="Tahoma"/>
                <a:cs typeface="Tahoma"/>
              </a:rPr>
              <a:t>=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  <a:p>
            <a:pPr marL="161290" indent="-123189">
              <a:lnSpc>
                <a:spcPct val="100000"/>
              </a:lnSpc>
              <a:spcBef>
                <a:spcPts val="385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 spc="50">
                <a:latin typeface="Tahoma"/>
                <a:cs typeface="Tahoma"/>
              </a:rPr>
              <a:t>CLUES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contrastive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debiasing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359994" y="608469"/>
          <a:ext cx="5472430" cy="1542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7250"/>
                <a:gridCol w="1865630"/>
                <a:gridCol w="642619"/>
                <a:gridCol w="1059814"/>
                <a:gridCol w="970280"/>
              </a:tblGrid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00" spc="-10" b="1">
                          <a:latin typeface="Arial"/>
                          <a:cs typeface="Arial"/>
                        </a:rPr>
                        <a:t>Stage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00" b="1"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9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latin typeface="Arial"/>
                          <a:cs typeface="Arial"/>
                        </a:rPr>
                        <a:t>change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00" b="1">
                          <a:latin typeface="Arial"/>
                          <a:cs typeface="Arial"/>
                        </a:rPr>
                        <a:t>Macro</a:t>
                      </a:r>
                      <a:r>
                        <a:rPr dirty="0" sz="9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F1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00" spc="-20" b="1">
                          <a:latin typeface="Arial"/>
                          <a:cs typeface="Arial"/>
                        </a:rPr>
                        <a:t>Lang 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gap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900" spc="-30" b="1">
                          <a:latin typeface="Arial"/>
                          <a:cs typeface="Arial"/>
                        </a:rPr>
                        <a:t>Gender</a:t>
                      </a:r>
                      <a:r>
                        <a:rPr dirty="0" sz="9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 b="1">
                          <a:latin typeface="Arial"/>
                          <a:cs typeface="Arial"/>
                        </a:rPr>
                        <a:t>gap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1.</a:t>
                      </a:r>
                      <a:r>
                        <a:rPr dirty="0" sz="9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0">
                          <a:latin typeface="Tahoma"/>
                          <a:cs typeface="Tahoma"/>
                        </a:rPr>
                        <a:t>Head-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only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66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Train</a:t>
                      </a:r>
                      <a:r>
                        <a:rPr dirty="0" sz="900" spc="1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classifier</a:t>
                      </a:r>
                      <a:r>
                        <a:rPr dirty="0" sz="900" spc="1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head</a:t>
                      </a:r>
                      <a:r>
                        <a:rPr dirty="0" sz="900" spc="14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only;</a:t>
                      </a:r>
                      <a:r>
                        <a:rPr dirty="0" sz="900" spc="24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frozen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66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0.5506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66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0.0800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66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0.0855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26669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dirty="0" sz="900" spc="-20">
                          <a:latin typeface="Tahoma"/>
                          <a:cs typeface="Tahoma"/>
                        </a:rPr>
                        <a:t>backbone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baseline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27000">
                <a:tc>
                  <a:txBody>
                    <a:bodyPr/>
                    <a:lstStyle/>
                    <a:p>
                      <a:pPr algn="r" marR="67945">
                        <a:lnSpc>
                          <a:spcPts val="900"/>
                        </a:lnSpc>
                        <a:tabLst>
                          <a:tab pos="259715" algn="l"/>
                        </a:tabLst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2.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	LoRA</a:t>
                      </a:r>
                      <a:r>
                        <a:rPr dirty="0" sz="900" spc="4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15">
                          <a:latin typeface="Tahoma"/>
                          <a:cs typeface="Tahoma"/>
                        </a:rPr>
                        <a:t>+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00"/>
                        </a:lnSpc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Add</a:t>
                      </a:r>
                      <a:r>
                        <a:rPr dirty="0" sz="9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LoRA</a:t>
                      </a:r>
                      <a:r>
                        <a:rPr dirty="0" sz="9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on</a:t>
                      </a:r>
                      <a:r>
                        <a:rPr dirty="0" sz="9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top</a:t>
                      </a:r>
                      <a:r>
                        <a:rPr dirty="0" sz="9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layers</a:t>
                      </a:r>
                      <a:r>
                        <a:rPr dirty="0" sz="900" spc="3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and</a:t>
                      </a:r>
                      <a:r>
                        <a:rPr dirty="0" sz="900" spc="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Focal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00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0.6294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ts val="900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0.0536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900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0.0291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Focal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Loss</a:t>
                      </a:r>
                      <a:r>
                        <a:rPr dirty="0" sz="9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for</a:t>
                      </a:r>
                      <a:r>
                        <a:rPr dirty="0" sz="900" spc="-6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imbalance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39065"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3.</a:t>
                      </a:r>
                      <a:r>
                        <a:rPr dirty="0" sz="900" spc="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CLUES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955"/>
                        </a:lnSpc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Add</a:t>
                      </a:r>
                      <a:r>
                        <a:rPr dirty="0" sz="9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latin typeface="Tahoma"/>
                          <a:cs typeface="Tahoma"/>
                        </a:rPr>
                        <a:t>cross-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language</a:t>
                      </a:r>
                      <a:r>
                        <a:rPr dirty="0" sz="9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contrastive</a:t>
                      </a:r>
                      <a:r>
                        <a:rPr dirty="0" sz="900" spc="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5">
                          <a:latin typeface="Tahoma"/>
                          <a:cs typeface="Tahoma"/>
                        </a:rPr>
                        <a:t>de-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0.6515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ts val="955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0.0263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955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0.0098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278130"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900">
                          <a:latin typeface="Tahoma"/>
                          <a:cs typeface="Tahoma"/>
                        </a:rPr>
                        <a:t>4.</a:t>
                      </a:r>
                      <a:r>
                        <a:rPr dirty="0" sz="900" spc="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Unfreezing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123189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dirty="0" sz="900" spc="-10">
                          <a:latin typeface="Tahoma"/>
                          <a:cs typeface="Tahoma"/>
                        </a:rPr>
                        <a:t>biasing</a:t>
                      </a:r>
                      <a:endParaRPr sz="900">
                        <a:latin typeface="Tahoma"/>
                        <a:cs typeface="Tahoma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00" spc="-30">
                          <a:latin typeface="Tahoma"/>
                          <a:cs typeface="Tahoma"/>
                        </a:rPr>
                        <a:t>Progressive</a:t>
                      </a:r>
                      <a:r>
                        <a:rPr dirty="0" sz="9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40">
                          <a:latin typeface="Tahoma"/>
                          <a:cs typeface="Tahoma"/>
                        </a:rPr>
                        <a:t>encoder</a:t>
                      </a:r>
                      <a:r>
                        <a:rPr dirty="0" sz="9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35">
                          <a:latin typeface="Tahoma"/>
                          <a:cs typeface="Tahoma"/>
                        </a:rPr>
                        <a:t>unfreezing</a:t>
                      </a:r>
                      <a:r>
                        <a:rPr dirty="0" sz="9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with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900" spc="-10" b="1">
                          <a:latin typeface="Arial"/>
                          <a:cs typeface="Arial"/>
                        </a:rPr>
                        <a:t>0.7400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3189"/>
                </a:tc>
                <a:tc>
                  <a:txBody>
                    <a:bodyPr/>
                    <a:lstStyle/>
                    <a:p>
                      <a:pPr marL="39116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900" spc="-10" b="1">
                          <a:latin typeface="Arial"/>
                          <a:cs typeface="Arial"/>
                        </a:rPr>
                        <a:t>0.0008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3189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900" spc="-10" b="1">
                          <a:latin typeface="Arial"/>
                          <a:cs typeface="Arial"/>
                        </a:rPr>
                        <a:t>0.0060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23189"/>
                </a:tc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955"/>
                        </a:lnSpc>
                      </a:pPr>
                      <a:r>
                        <a:rPr dirty="0" sz="900" spc="-20">
                          <a:latin typeface="Tahoma"/>
                          <a:cs typeface="Tahoma"/>
                        </a:rPr>
                        <a:t>Optuna-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tuned</a:t>
                      </a:r>
                      <a:r>
                        <a:rPr dirty="0" sz="9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20">
                          <a:latin typeface="Tahoma"/>
                          <a:cs typeface="Tahoma"/>
                        </a:rPr>
                        <a:t>learning</a:t>
                      </a:r>
                      <a:r>
                        <a:rPr dirty="0" sz="9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900" spc="-10">
                          <a:latin typeface="Tahoma"/>
                          <a:cs typeface="Tahoma"/>
                        </a:rPr>
                        <a:t>rates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  <a:spcBef>
                          <a:spcPts val="14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Takeaway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5980">
                        <a:lnSpc>
                          <a:spcPts val="900"/>
                        </a:lnSpc>
                        <a:spcBef>
                          <a:spcPts val="140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8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0" b="1">
                          <a:latin typeface="Arial"/>
                          <a:cs typeface="Arial"/>
                        </a:rPr>
                        <a:t>settings</a:t>
                      </a:r>
                      <a:r>
                        <a:rPr dirty="0" sz="8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 b="1">
                          <a:latin typeface="Arial"/>
                          <a:cs typeface="Arial"/>
                        </a:rPr>
                        <a:t>kept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900"/>
                        </a:lnSpc>
                        <a:spcBef>
                          <a:spcPts val="14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Final</a:t>
                      </a:r>
                      <a:r>
                        <a:rPr dirty="0" sz="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 b="1">
                          <a:latin typeface="Arial"/>
                          <a:cs typeface="Arial"/>
                        </a:rPr>
                        <a:t>outcome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3903103" y="2135340"/>
            <a:ext cx="1397000" cy="5378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61290" indent="-123189">
              <a:lnSpc>
                <a:spcPct val="100000"/>
              </a:lnSpc>
              <a:spcBef>
                <a:spcPts val="484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English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F1:</a:t>
            </a:r>
            <a:r>
              <a:rPr dirty="0" sz="800" spc="12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0.7167</a:t>
            </a:r>
            <a:endParaRPr sz="800">
              <a:latin typeface="Tahoma"/>
              <a:cs typeface="Tahoma"/>
            </a:endParaRPr>
          </a:p>
          <a:p>
            <a:pPr marL="161290" indent="-123189">
              <a:lnSpc>
                <a:spcPct val="100000"/>
              </a:lnSpc>
              <a:spcBef>
                <a:spcPts val="385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Hindi</a:t>
            </a:r>
            <a:r>
              <a:rPr dirty="0" sz="800" spc="6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F1:</a:t>
            </a:r>
            <a:r>
              <a:rPr dirty="0" sz="800" spc="16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0.8117</a:t>
            </a:r>
            <a:endParaRPr sz="800">
              <a:latin typeface="Tahoma"/>
              <a:cs typeface="Tahoma"/>
            </a:endParaRPr>
          </a:p>
          <a:p>
            <a:pPr marL="161290" indent="-123189">
              <a:lnSpc>
                <a:spcPct val="100000"/>
              </a:lnSpc>
              <a:spcBef>
                <a:spcPts val="385"/>
              </a:spcBef>
              <a:buClr>
                <a:srgbClr val="666666"/>
              </a:buClr>
              <a:buFont typeface="Arial"/>
              <a:buChar char="•"/>
              <a:tabLst>
                <a:tab pos="161290" algn="l"/>
              </a:tabLst>
            </a:pPr>
            <a:r>
              <a:rPr dirty="0" sz="800">
                <a:latin typeface="Tahoma"/>
                <a:cs typeface="Tahoma"/>
              </a:rPr>
              <a:t>Balanced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multilingual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25">
                <a:latin typeface="Tahoma"/>
                <a:cs typeface="Tahoma"/>
              </a:rPr>
              <a:t>SER</a:t>
            </a:r>
            <a:endParaRPr sz="8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AudioTrust</a:t>
            </a:r>
            <a:r>
              <a:rPr dirty="0" spc="-70"/>
              <a:t> </a:t>
            </a:r>
            <a:r>
              <a:rPr dirty="0" spc="-25"/>
              <a:t>Evaluation,</a:t>
            </a:r>
            <a:r>
              <a:rPr dirty="0" spc="-70"/>
              <a:t> </a:t>
            </a:r>
            <a:r>
              <a:rPr dirty="0"/>
              <a:t>Four</a:t>
            </a:r>
            <a:r>
              <a:rPr dirty="0" spc="-70"/>
              <a:t> </a:t>
            </a:r>
            <a:r>
              <a:rPr dirty="0" spc="-10"/>
              <a:t>Pillars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07187" y="708609"/>
            <a:ext cx="2145030" cy="0"/>
          </a:xfrm>
          <a:custGeom>
            <a:avLst/>
            <a:gdLst/>
            <a:ahLst/>
            <a:cxnLst/>
            <a:rect l="l" t="t" r="r" b="b"/>
            <a:pathLst>
              <a:path w="2145030" h="0">
                <a:moveTo>
                  <a:pt x="0" y="0"/>
                </a:moveTo>
                <a:lnTo>
                  <a:pt x="2144788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0408" y="723390"/>
            <a:ext cx="687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b="1">
                <a:latin typeface="Arial"/>
                <a:cs typeface="Arial"/>
              </a:rPr>
              <a:t>Dimension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92137" y="723390"/>
            <a:ext cx="37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" b="1">
                <a:latin typeface="Arial"/>
                <a:cs typeface="Arial"/>
              </a:rPr>
              <a:t>Score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7187" y="954354"/>
            <a:ext cx="2145030" cy="0"/>
          </a:xfrm>
          <a:custGeom>
            <a:avLst/>
            <a:gdLst/>
            <a:ahLst/>
            <a:cxnLst/>
            <a:rect l="l" t="t" r="r" b="b"/>
            <a:pathLst>
              <a:path w="2145030" h="0">
                <a:moveTo>
                  <a:pt x="0" y="0"/>
                </a:moveTo>
                <a:lnTo>
                  <a:pt x="2144788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70408" y="967040"/>
            <a:ext cx="79502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Tahoma"/>
                <a:cs typeface="Tahoma"/>
              </a:rPr>
              <a:t>Fairness Robustness </a:t>
            </a:r>
            <a:r>
              <a:rPr dirty="0" sz="1100" spc="-30">
                <a:latin typeface="Tahoma"/>
                <a:cs typeface="Tahoma"/>
              </a:rPr>
              <a:t>Explainability </a:t>
            </a:r>
            <a:r>
              <a:rPr dirty="0" sz="1100" spc="-10">
                <a:latin typeface="Tahoma"/>
                <a:cs typeface="Tahoma"/>
              </a:rPr>
              <a:t>Privacy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07170" y="967040"/>
            <a:ext cx="108077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0"/>
              </a:spcBef>
              <a:tabLst>
                <a:tab pos="569595" algn="l"/>
              </a:tabLst>
            </a:pPr>
            <a:r>
              <a:rPr dirty="0" sz="1100" spc="-10">
                <a:latin typeface="Tahoma"/>
                <a:cs typeface="Tahoma"/>
              </a:rPr>
              <a:t>0.877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10" b="1">
                <a:solidFill>
                  <a:srgbClr val="1E8C59"/>
                </a:solidFill>
                <a:latin typeface="Arial"/>
                <a:cs typeface="Arial"/>
              </a:rPr>
              <a:t>Strong</a:t>
            </a:r>
            <a:endParaRPr sz="11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5"/>
              </a:spcBef>
              <a:tabLst>
                <a:tab pos="627380" algn="l"/>
              </a:tabLst>
            </a:pPr>
            <a:r>
              <a:rPr dirty="0" sz="1100" spc="-10">
                <a:latin typeface="Tahoma"/>
                <a:cs typeface="Tahoma"/>
              </a:rPr>
              <a:t>0.765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20">
                <a:solidFill>
                  <a:srgbClr val="1E8C59"/>
                </a:solidFill>
                <a:latin typeface="Tahoma"/>
                <a:cs typeface="Tahoma"/>
              </a:rPr>
              <a:t>Good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495300" algn="l"/>
              </a:tabLst>
            </a:pPr>
            <a:r>
              <a:rPr dirty="0" sz="1100" spc="-10">
                <a:latin typeface="Tahoma"/>
                <a:cs typeface="Tahoma"/>
              </a:rPr>
              <a:t>0.910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35" b="1">
                <a:solidFill>
                  <a:srgbClr val="1E8C59"/>
                </a:solidFill>
                <a:latin typeface="Arial"/>
                <a:cs typeface="Arial"/>
              </a:rPr>
              <a:t>Excellent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505459" algn="l"/>
              </a:tabLst>
            </a:pPr>
            <a:r>
              <a:rPr dirty="0" sz="1100" spc="-10">
                <a:latin typeface="Tahoma"/>
                <a:cs typeface="Tahoma"/>
              </a:rPr>
              <a:t>0.595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A6868"/>
                </a:solidFill>
                <a:latin typeface="Tahoma"/>
                <a:cs typeface="Tahoma"/>
              </a:rPr>
              <a:t>Moderate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7187" y="1714233"/>
            <a:ext cx="2145030" cy="0"/>
          </a:xfrm>
          <a:custGeom>
            <a:avLst/>
            <a:gdLst/>
            <a:ahLst/>
            <a:cxnLst/>
            <a:rect l="l" t="t" r="r" b="b"/>
            <a:pathLst>
              <a:path w="2145030" h="0">
                <a:moveTo>
                  <a:pt x="0" y="0"/>
                </a:moveTo>
                <a:lnTo>
                  <a:pt x="2144788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70408" y="1726919"/>
            <a:ext cx="1294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4719" algn="l"/>
              </a:tabLst>
            </a:pPr>
            <a:r>
              <a:rPr dirty="0" sz="1100" spc="-10" b="1">
                <a:latin typeface="Arial"/>
                <a:cs typeface="Arial"/>
              </a:rPr>
              <a:t>Overall</a:t>
            </a:r>
            <a:r>
              <a:rPr dirty="0" sz="1100" b="1">
                <a:latin typeface="Arial"/>
                <a:cs typeface="Arial"/>
              </a:rPr>
              <a:t>	</a:t>
            </a:r>
            <a:r>
              <a:rPr dirty="0" sz="1100" spc="-10" b="1">
                <a:latin typeface="Arial"/>
                <a:cs typeface="Arial"/>
              </a:rPr>
              <a:t>0.787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07187" y="1959965"/>
            <a:ext cx="2145030" cy="0"/>
          </a:xfrm>
          <a:custGeom>
            <a:avLst/>
            <a:gdLst/>
            <a:ahLst/>
            <a:cxnLst/>
            <a:rect l="l" t="t" r="r" b="b"/>
            <a:pathLst>
              <a:path w="2145030" h="0">
                <a:moveTo>
                  <a:pt x="0" y="0"/>
                </a:moveTo>
                <a:lnTo>
                  <a:pt x="2144788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73443" y="2155291"/>
            <a:ext cx="2386330" cy="21336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33655">
              <a:lnSpc>
                <a:spcPts val="1335"/>
              </a:lnSpc>
            </a:pPr>
            <a:r>
              <a:rPr dirty="0" sz="1200" spc="-10">
                <a:latin typeface="Tahoma"/>
                <a:cs typeface="Tahoma"/>
              </a:rPr>
              <a:t>Highlights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3443" y="2368283"/>
            <a:ext cx="2386330" cy="53467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23495" rIns="0" bIns="0" rtlCol="0" vert="horz">
            <a:spAutoFit/>
          </a:bodyPr>
          <a:lstStyle/>
          <a:p>
            <a:pPr marL="33655" marR="161925">
              <a:lnSpc>
                <a:spcPts val="950"/>
              </a:lnSpc>
              <a:spcBef>
                <a:spcPts val="185"/>
              </a:spcBef>
            </a:pPr>
            <a:r>
              <a:rPr dirty="0" sz="800" spc="-10">
                <a:latin typeface="Tahoma"/>
                <a:cs typeface="Tahoma"/>
              </a:rPr>
              <a:t>Fairness:</a:t>
            </a:r>
            <a:r>
              <a:rPr dirty="0" sz="800" spc="35">
                <a:latin typeface="Tahoma"/>
                <a:cs typeface="Tahoma"/>
              </a:rPr>
              <a:t> </a:t>
            </a:r>
            <a:r>
              <a:rPr dirty="0" sz="800" i="1">
                <a:latin typeface="Sitka Text"/>
                <a:cs typeface="Sitka Text"/>
              </a:rPr>
              <a:t>γ</a:t>
            </a:r>
            <a:r>
              <a:rPr dirty="0" baseline="-13888" sz="900">
                <a:latin typeface="Tahoma"/>
                <a:cs typeface="Tahoma"/>
              </a:rPr>
              <a:t>gender</a:t>
            </a:r>
            <a:r>
              <a:rPr dirty="0" sz="800">
                <a:latin typeface="Tahoma"/>
                <a:cs typeface="Tahoma"/>
              </a:rPr>
              <a:t>=0</a:t>
            </a:r>
            <a:r>
              <a:rPr dirty="0" sz="800" i="1">
                <a:latin typeface="Sitka Text"/>
                <a:cs typeface="Sitka Text"/>
              </a:rPr>
              <a:t>.</a:t>
            </a:r>
            <a:r>
              <a:rPr dirty="0" sz="800">
                <a:latin typeface="Tahoma"/>
                <a:cs typeface="Tahoma"/>
              </a:rPr>
              <a:t>898,</a:t>
            </a:r>
            <a:r>
              <a:rPr dirty="0" sz="800" spc="-35">
                <a:latin typeface="Tahoma"/>
                <a:cs typeface="Tahoma"/>
              </a:rPr>
              <a:t> </a:t>
            </a:r>
            <a:r>
              <a:rPr dirty="0" sz="800" spc="-10" i="1">
                <a:latin typeface="Sitka Text"/>
                <a:cs typeface="Sitka Text"/>
              </a:rPr>
              <a:t>γ</a:t>
            </a:r>
            <a:r>
              <a:rPr dirty="0" baseline="-13888" sz="900" spc="-15">
                <a:latin typeface="Tahoma"/>
                <a:cs typeface="Tahoma"/>
              </a:rPr>
              <a:t>lang</a:t>
            </a:r>
            <a:r>
              <a:rPr dirty="0" sz="800" spc="-10">
                <a:latin typeface="Tahoma"/>
                <a:cs typeface="Tahoma"/>
              </a:rPr>
              <a:t>=0</a:t>
            </a:r>
            <a:r>
              <a:rPr dirty="0" sz="800" spc="-10" i="1">
                <a:latin typeface="Sitka Text"/>
                <a:cs typeface="Sitka Text"/>
              </a:rPr>
              <a:t>.</a:t>
            </a:r>
            <a:r>
              <a:rPr dirty="0" sz="800" spc="-10">
                <a:latin typeface="Tahoma"/>
                <a:cs typeface="Tahoma"/>
              </a:rPr>
              <a:t>901</a:t>
            </a:r>
            <a:r>
              <a:rPr dirty="0" sz="800" spc="50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Robustness:</a:t>
            </a:r>
            <a:r>
              <a:rPr dirty="0" sz="800" spc="7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mean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drop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0.067,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20">
                <a:latin typeface="Tahoma"/>
                <a:cs typeface="Tahoma"/>
              </a:rPr>
              <a:t>weakest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at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10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25">
                <a:latin typeface="Tahoma"/>
                <a:cs typeface="Tahoma"/>
              </a:rPr>
              <a:t>dB </a:t>
            </a:r>
            <a:r>
              <a:rPr dirty="0" sz="800" spc="-10">
                <a:latin typeface="Tahoma"/>
                <a:cs typeface="Tahoma"/>
              </a:rPr>
              <a:t>noise</a:t>
            </a:r>
            <a:endParaRPr sz="800">
              <a:latin typeface="Tahoma"/>
              <a:cs typeface="Tahoma"/>
            </a:endParaRPr>
          </a:p>
          <a:p>
            <a:pPr marL="33655">
              <a:lnSpc>
                <a:spcPts val="910"/>
              </a:lnSpc>
            </a:pPr>
            <a:r>
              <a:rPr dirty="0" sz="800">
                <a:latin typeface="Tahoma"/>
                <a:cs typeface="Tahoma"/>
              </a:rPr>
              <a:t>Privacy:</a:t>
            </a:r>
            <a:r>
              <a:rPr dirty="0" sz="800" spc="12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MIA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55">
                <a:latin typeface="Tahoma"/>
                <a:cs typeface="Tahoma"/>
              </a:rPr>
              <a:t>AUC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0.590,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confidence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gap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0.037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9586" y="731432"/>
            <a:ext cx="2468030" cy="1037927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926613" y="1786558"/>
            <a:ext cx="253238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111125">
              <a:lnSpc>
                <a:spcPts val="950"/>
              </a:lnSpc>
              <a:spcBef>
                <a:spcPts val="135"/>
              </a:spcBef>
            </a:pPr>
            <a:r>
              <a:rPr dirty="0" sz="800" spc="-10">
                <a:latin typeface="Tahoma"/>
                <a:cs typeface="Tahoma"/>
              </a:rPr>
              <a:t>Integrated </a:t>
            </a:r>
            <a:r>
              <a:rPr dirty="0" sz="800">
                <a:latin typeface="Tahoma"/>
                <a:cs typeface="Tahoma"/>
              </a:rPr>
              <a:t>Gradients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saliency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map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from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the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report: </a:t>
            </a:r>
            <a:r>
              <a:rPr dirty="0" sz="800">
                <a:latin typeface="Tahoma"/>
                <a:cs typeface="Tahoma"/>
              </a:rPr>
              <a:t>attribution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mass</a:t>
            </a:r>
            <a:r>
              <a:rPr dirty="0" sz="80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concentrates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on voiced</a:t>
            </a:r>
            <a:r>
              <a:rPr dirty="0" sz="800" spc="-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speech</a:t>
            </a:r>
            <a:r>
              <a:rPr dirty="0" sz="800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regions.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5300" y="72527"/>
            <a:ext cx="16954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>
                <a:latin typeface="Tahoma"/>
                <a:cs typeface="Tahoma"/>
              </a:rPr>
              <a:t>Per-</a:t>
            </a:r>
            <a:r>
              <a:rPr dirty="0" sz="1400" spc="-30">
                <a:latin typeface="Tahoma"/>
                <a:cs typeface="Tahoma"/>
              </a:rPr>
              <a:t>Class</a:t>
            </a:r>
            <a:r>
              <a:rPr dirty="0" sz="1400" spc="-40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</a:rPr>
              <a:t>Performance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59994" y="602830"/>
          <a:ext cx="1967230" cy="938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/>
                <a:gridCol w="405764"/>
                <a:gridCol w="883919"/>
              </a:tblGrid>
              <a:tr h="1936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Emotion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5" b="1">
                          <a:latin typeface="Arial"/>
                          <a:cs typeface="Arial"/>
                        </a:rPr>
                        <a:t>F1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20" b="1">
                          <a:latin typeface="Arial"/>
                          <a:cs typeface="Arial"/>
                        </a:rPr>
                        <a:t>Note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Angry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0.825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Clear</a:t>
                      </a:r>
                      <a:r>
                        <a:rPr dirty="0" sz="8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20">
                          <a:latin typeface="Tahoma"/>
                          <a:cs typeface="Tahoma"/>
                        </a:rPr>
                        <a:t>cues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Happy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0.740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Overlap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Neutral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 spc="-10">
                          <a:solidFill>
                            <a:srgbClr val="CA6868"/>
                          </a:solidFill>
                          <a:latin typeface="Tahoma"/>
                          <a:cs typeface="Tahoma"/>
                        </a:rPr>
                        <a:t>0.670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Hardest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149860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dirty="0" sz="800" spc="-25">
                          <a:latin typeface="Tahoma"/>
                          <a:cs typeface="Tahoma"/>
                        </a:rPr>
                        <a:t>Sad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 spc="-10">
                          <a:latin typeface="Tahoma"/>
                          <a:cs typeface="Tahoma"/>
                        </a:rPr>
                        <a:t>0.801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800">
                          <a:latin typeface="Tahoma"/>
                          <a:cs typeface="Tahoma"/>
                        </a:rPr>
                        <a:t>Good</a:t>
                      </a:r>
                      <a:r>
                        <a:rPr dirty="0" sz="800" spc="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800" spc="-10">
                          <a:latin typeface="Tahoma"/>
                          <a:cs typeface="Tahoma"/>
                        </a:rPr>
                        <a:t>separation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00" b="1">
                          <a:latin typeface="Arial"/>
                          <a:cs typeface="Arial"/>
                        </a:rPr>
                        <a:t>Macro</a:t>
                      </a:r>
                      <a:r>
                        <a:rPr dirty="0" sz="800" spc="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35" b="1">
                          <a:latin typeface="Arial"/>
                          <a:cs typeface="Arial"/>
                        </a:rPr>
                        <a:t>F1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00" spc="-10" b="1">
                          <a:latin typeface="Arial"/>
                          <a:cs typeface="Arial"/>
                        </a:rPr>
                        <a:t>0.761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773" y="1638513"/>
            <a:ext cx="1529087" cy="9881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47294" y="2677355"/>
            <a:ext cx="11684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latin typeface="Tahoma"/>
                <a:cs typeface="Tahoma"/>
              </a:rPr>
              <a:t>Neutral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remains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>
                <a:latin typeface="Tahoma"/>
                <a:cs typeface="Tahoma"/>
              </a:rPr>
              <a:t>the</a:t>
            </a:r>
            <a:r>
              <a:rPr dirty="0" sz="600" spc="10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hardest</a:t>
            </a:r>
            <a:r>
              <a:rPr dirty="0" sz="600" spc="5">
                <a:latin typeface="Tahoma"/>
                <a:cs typeface="Tahoma"/>
              </a:rPr>
              <a:t> </a:t>
            </a:r>
            <a:r>
              <a:rPr dirty="0" sz="600" spc="-10">
                <a:latin typeface="Tahoma"/>
                <a:cs typeface="Tahoma"/>
              </a:rPr>
              <a:t>class.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1564" y="650536"/>
            <a:ext cx="2939011" cy="254417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Conclusion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59994" y="3990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21894" y="475469"/>
            <a:ext cx="2667635" cy="225234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b="1">
                <a:latin typeface="Arial"/>
                <a:cs typeface="Arial"/>
              </a:rPr>
              <a:t>What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we</a:t>
            </a:r>
            <a:r>
              <a:rPr dirty="0" sz="1000" spc="5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achieved</a:t>
            </a:r>
            <a:endParaRPr sz="1000">
              <a:latin typeface="Arial"/>
              <a:cs typeface="Arial"/>
            </a:endParaRPr>
          </a:p>
          <a:p>
            <a:pPr marL="313055" marR="488315" indent="-130810">
              <a:lnSpc>
                <a:spcPct val="100000"/>
              </a:lnSpc>
              <a:spcBef>
                <a:spcPts val="590"/>
              </a:spcBef>
              <a:buClr>
                <a:srgbClr val="666666"/>
              </a:buClr>
              <a:buFont typeface="Arial"/>
              <a:buChar char="•"/>
              <a:tabLst>
                <a:tab pos="314960" algn="l"/>
              </a:tabLst>
            </a:pPr>
            <a:r>
              <a:rPr dirty="0" sz="1000" b="1">
                <a:solidFill>
                  <a:srgbClr val="1E50A0"/>
                </a:solidFill>
                <a:latin typeface="Arial"/>
                <a:cs typeface="Arial"/>
              </a:rPr>
              <a:t>Macro</a:t>
            </a:r>
            <a:r>
              <a:rPr dirty="0" sz="1000" spc="45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E50A0"/>
                </a:solidFill>
                <a:latin typeface="Arial"/>
                <a:cs typeface="Arial"/>
              </a:rPr>
              <a:t>F1</a:t>
            </a:r>
            <a:r>
              <a:rPr dirty="0" sz="1000" spc="50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 spc="254" b="1">
                <a:solidFill>
                  <a:srgbClr val="1E50A0"/>
                </a:solidFill>
                <a:latin typeface="Arial"/>
                <a:cs typeface="Arial"/>
              </a:rPr>
              <a:t>=</a:t>
            </a:r>
            <a:r>
              <a:rPr dirty="0" sz="1000" spc="50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E50A0"/>
                </a:solidFill>
                <a:latin typeface="Arial"/>
                <a:cs typeface="Arial"/>
              </a:rPr>
              <a:t>0.761</a:t>
            </a:r>
            <a:r>
              <a:rPr dirty="0" sz="1000" spc="20" b="1">
                <a:solidFill>
                  <a:srgbClr val="1E50A0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balanced </a:t>
            </a:r>
            <a:r>
              <a:rPr dirty="0" sz="1000" spc="-35">
                <a:latin typeface="Tahoma"/>
                <a:cs typeface="Tahoma"/>
              </a:rPr>
              <a:t>	</a:t>
            </a:r>
            <a:r>
              <a:rPr dirty="0" sz="1000" spc="-50">
                <a:latin typeface="Tahoma"/>
                <a:cs typeface="Tahoma"/>
              </a:rPr>
              <a:t>6,400-</a:t>
            </a:r>
            <a:r>
              <a:rPr dirty="0" sz="1000" spc="-40">
                <a:latin typeface="Tahoma"/>
                <a:cs typeface="Tahoma"/>
              </a:rPr>
              <a:t>sample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corpus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0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40">
                <a:latin typeface="Tahoma"/>
                <a:cs typeface="Tahoma"/>
              </a:rPr>
              <a:t>Gender</a:t>
            </a:r>
            <a:r>
              <a:rPr dirty="0" sz="1000" spc="-25">
                <a:latin typeface="Tahoma"/>
                <a:cs typeface="Tahoma"/>
              </a:rPr>
              <a:t> gap </a:t>
            </a:r>
            <a:r>
              <a:rPr dirty="0" sz="1000" spc="-45">
                <a:latin typeface="Tahoma"/>
                <a:cs typeface="Tahoma"/>
              </a:rPr>
              <a:t>reduced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0.0855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E50A0"/>
                </a:solidFill>
                <a:latin typeface="Arial"/>
                <a:cs typeface="Arial"/>
              </a:rPr>
              <a:t>0.0060</a:t>
            </a:r>
            <a:endParaRPr sz="1000">
              <a:latin typeface="Arial"/>
              <a:cs typeface="Arial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40">
                <a:latin typeface="Tahoma"/>
                <a:cs typeface="Tahoma"/>
              </a:rPr>
              <a:t>Language</a:t>
            </a:r>
            <a:r>
              <a:rPr dirty="0" sz="1000" spc="-25">
                <a:latin typeface="Tahoma"/>
                <a:cs typeface="Tahoma"/>
              </a:rPr>
              <a:t> gap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reduced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E50A0"/>
                </a:solidFill>
                <a:latin typeface="Arial"/>
                <a:cs typeface="Arial"/>
              </a:rPr>
              <a:t>0.0008</a:t>
            </a:r>
            <a:endParaRPr sz="1000">
              <a:latin typeface="Arial"/>
              <a:cs typeface="Arial"/>
            </a:endParaRPr>
          </a:p>
          <a:p>
            <a:pPr marL="38100" marR="1043305" indent="274955">
              <a:lnSpc>
                <a:spcPts val="1989"/>
              </a:lnSpc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20">
                <a:latin typeface="Tahoma"/>
                <a:cs typeface="Tahoma"/>
              </a:rPr>
              <a:t>AudioTrust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score:</a:t>
            </a:r>
            <a:r>
              <a:rPr dirty="0" sz="1000" spc="75"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1E50A0"/>
                </a:solidFill>
                <a:latin typeface="Arial"/>
                <a:cs typeface="Arial"/>
              </a:rPr>
              <a:t>0.786 </a:t>
            </a:r>
            <a:r>
              <a:rPr dirty="0" sz="1000" b="1">
                <a:latin typeface="Arial"/>
                <a:cs typeface="Arial"/>
              </a:rPr>
              <a:t>What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45" b="1">
                <a:latin typeface="Arial"/>
                <a:cs typeface="Arial"/>
              </a:rPr>
              <a:t>worked</a:t>
            </a:r>
            <a:r>
              <a:rPr dirty="0" sz="1000" spc="6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best</a:t>
            </a:r>
            <a:endParaRPr sz="1000">
              <a:latin typeface="Arial"/>
              <a:cs typeface="Arial"/>
            </a:endParaRPr>
          </a:p>
          <a:p>
            <a:pPr marL="313055" indent="-130810">
              <a:lnSpc>
                <a:spcPct val="100000"/>
              </a:lnSpc>
              <a:spcBef>
                <a:spcPts val="3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>
                <a:latin typeface="Tahoma"/>
                <a:cs typeface="Tahoma"/>
              </a:rPr>
              <a:t>LoRA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efficient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adaptation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>
                <a:latin typeface="Tahoma"/>
                <a:cs typeface="Tahoma"/>
              </a:rPr>
              <a:t>CLUES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cross-</a:t>
            </a:r>
            <a:r>
              <a:rPr dirty="0" sz="1000" spc="-45">
                <a:latin typeface="Tahoma"/>
                <a:cs typeface="Tahoma"/>
              </a:rPr>
              <a:t>language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fairness</a:t>
            </a:r>
            <a:endParaRPr sz="1000">
              <a:latin typeface="Tahoma"/>
              <a:cs typeface="Tahoma"/>
            </a:endParaRPr>
          </a:p>
          <a:p>
            <a:pPr marL="313055" indent="-130810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3055" algn="l"/>
              </a:tabLst>
            </a:pPr>
            <a:r>
              <a:rPr dirty="0" sz="1000" spc="-35">
                <a:latin typeface="Tahoma"/>
                <a:cs typeface="Tahoma"/>
              </a:rPr>
              <a:t>Progressive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unfreezing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Optuna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39969" y="3094396"/>
            <a:ext cx="1544320" cy="15049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Saumya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Shivam</a:t>
            </a:r>
            <a:r>
              <a:rPr dirty="0" sz="800" spc="2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46464"/>
                </a:solidFill>
                <a:latin typeface="Tahoma"/>
                <a:cs typeface="Tahoma"/>
              </a:rPr>
              <a:t>Suraj</a:t>
            </a:r>
            <a:r>
              <a:rPr dirty="0" sz="800" spc="1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646464"/>
                </a:solidFill>
                <a:latin typeface="Calibri"/>
                <a:cs typeface="Calibri"/>
              </a:rPr>
              <a:t>·</a:t>
            </a:r>
            <a:r>
              <a:rPr dirty="0" sz="800" spc="8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46464"/>
                </a:solidFill>
                <a:latin typeface="Tahoma"/>
                <a:cs typeface="Tahoma"/>
              </a:rPr>
              <a:t>Vidhan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pc="-10"/>
              <a:t>FairHindiSER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/>
              <a:t>IIT</a:t>
            </a:r>
            <a:r>
              <a:rPr dirty="0" spc="25"/>
              <a:t> </a:t>
            </a:r>
            <a:r>
              <a:rPr dirty="0" spc="-10"/>
              <a:t>Jodhpur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270503" y="619566"/>
            <a:ext cx="1908810" cy="616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dirty="0" sz="1200">
                <a:solidFill>
                  <a:srgbClr val="B42727"/>
                </a:solidFill>
                <a:latin typeface="Tahoma"/>
                <a:cs typeface="Tahoma"/>
              </a:rPr>
              <a:t>Main</a:t>
            </a:r>
            <a:r>
              <a:rPr dirty="0" sz="1200" spc="-60">
                <a:solidFill>
                  <a:srgbClr val="B42727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B42727"/>
                </a:solidFill>
                <a:latin typeface="Tahoma"/>
                <a:cs typeface="Tahoma"/>
              </a:rPr>
              <a:t>Limitation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ts val="1050"/>
              </a:lnSpc>
            </a:pPr>
            <a:r>
              <a:rPr dirty="0" sz="900">
                <a:latin typeface="Tahoma"/>
                <a:cs typeface="Tahoma"/>
              </a:rPr>
              <a:t>10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dB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SNR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noise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lowers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F1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0.46.</a:t>
            </a:r>
            <a:endParaRPr sz="900">
              <a:latin typeface="Tahoma"/>
              <a:cs typeface="Tahoma"/>
            </a:endParaRPr>
          </a:p>
          <a:p>
            <a:pPr marL="12700" marR="5080">
              <a:lnSpc>
                <a:spcPct val="101499"/>
              </a:lnSpc>
            </a:pPr>
            <a:r>
              <a:rPr dirty="0" sz="900" spc="75">
                <a:latin typeface="Tahoma"/>
                <a:cs typeface="Tahoma"/>
              </a:rPr>
              <a:t>A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denoising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front-</a:t>
            </a:r>
            <a:r>
              <a:rPr dirty="0" sz="900">
                <a:latin typeface="Tahoma"/>
                <a:cs typeface="Tahoma"/>
              </a:rPr>
              <a:t>end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needed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before </a:t>
            </a:r>
            <a:r>
              <a:rPr dirty="0" sz="900" spc="-10">
                <a:latin typeface="Tahoma"/>
                <a:cs typeface="Tahoma"/>
              </a:rPr>
              <a:t>deployment.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41039" y="1374203"/>
            <a:ext cx="2201545" cy="192405"/>
          </a:xfrm>
          <a:prstGeom prst="rect">
            <a:avLst/>
          </a:prstGeom>
          <a:solidFill>
            <a:srgbClr val="EAEAEA"/>
          </a:solidFill>
        </p:spPr>
        <p:txBody>
          <a:bodyPr wrap="square" lIns="0" tIns="0" rIns="0" bIns="0" rtlCol="0" vert="horz">
            <a:spAutoFit/>
          </a:bodyPr>
          <a:lstStyle/>
          <a:p>
            <a:pPr marL="41910">
              <a:lnSpc>
                <a:spcPts val="1400"/>
              </a:lnSpc>
            </a:pPr>
            <a:r>
              <a:rPr dirty="0" sz="1200" spc="-40">
                <a:latin typeface="Tahoma"/>
                <a:cs typeface="Tahoma"/>
              </a:rPr>
              <a:t>Future</a:t>
            </a:r>
            <a:r>
              <a:rPr dirty="0" sz="1200" spc="-55">
                <a:latin typeface="Tahoma"/>
                <a:cs typeface="Tahoma"/>
              </a:rPr>
              <a:t> </a:t>
            </a:r>
            <a:r>
              <a:rPr dirty="0" sz="1200" spc="-20">
                <a:latin typeface="Tahoma"/>
                <a:cs typeface="Tahoma"/>
              </a:rPr>
              <a:t>Work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41039" y="1566100"/>
            <a:ext cx="2201545" cy="686435"/>
          </a:xfrm>
          <a:prstGeom prst="rect">
            <a:avLst/>
          </a:prstGeom>
          <a:solidFill>
            <a:srgbClr val="F4F4F4"/>
          </a:solidFill>
        </p:spPr>
        <p:txBody>
          <a:bodyPr wrap="square" lIns="0" tIns="75565" rIns="0" bIns="0" rtlCol="0" vert="horz">
            <a:spAutoFit/>
          </a:bodyPr>
          <a:lstStyle/>
          <a:p>
            <a:pPr marL="318770" indent="-127635">
              <a:lnSpc>
                <a:spcPct val="100000"/>
              </a:lnSpc>
              <a:spcBef>
                <a:spcPts val="595"/>
              </a:spcBef>
              <a:buClr>
                <a:srgbClr val="666666"/>
              </a:buClr>
              <a:buFont typeface="Arial"/>
              <a:buChar char="•"/>
              <a:tabLst>
                <a:tab pos="318770" algn="l"/>
              </a:tabLst>
            </a:pPr>
            <a:r>
              <a:rPr dirty="0" sz="900">
                <a:latin typeface="Tahoma"/>
                <a:cs typeface="Tahoma"/>
              </a:rPr>
              <a:t>Spectral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denoising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front-end</a:t>
            </a:r>
            <a:endParaRPr sz="900">
              <a:latin typeface="Tahoma"/>
              <a:cs typeface="Tahoma"/>
            </a:endParaRPr>
          </a:p>
          <a:p>
            <a:pPr marL="318770" indent="-127635">
              <a:lnSpc>
                <a:spcPct val="100000"/>
              </a:lnSpc>
              <a:spcBef>
                <a:spcPts val="409"/>
              </a:spcBef>
              <a:buClr>
                <a:srgbClr val="666666"/>
              </a:buClr>
              <a:buFont typeface="Arial"/>
              <a:buChar char="•"/>
              <a:tabLst>
                <a:tab pos="318770" algn="l"/>
              </a:tabLst>
            </a:pPr>
            <a:r>
              <a:rPr dirty="0" sz="900">
                <a:latin typeface="Tahoma"/>
                <a:cs typeface="Tahoma"/>
              </a:rPr>
              <a:t>More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languages:</a:t>
            </a:r>
            <a:r>
              <a:rPr dirty="0" sz="900" spc="9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Tamil,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Bengali</a:t>
            </a:r>
            <a:endParaRPr sz="900">
              <a:latin typeface="Tahoma"/>
              <a:cs typeface="Tahoma"/>
            </a:endParaRPr>
          </a:p>
          <a:p>
            <a:pPr marL="318770" indent="-127635">
              <a:lnSpc>
                <a:spcPct val="100000"/>
              </a:lnSpc>
              <a:spcBef>
                <a:spcPts val="415"/>
              </a:spcBef>
              <a:buClr>
                <a:srgbClr val="666666"/>
              </a:buClr>
              <a:buFont typeface="Arial"/>
              <a:buChar char="•"/>
              <a:tabLst>
                <a:tab pos="318770" algn="l"/>
              </a:tabLst>
            </a:pPr>
            <a:r>
              <a:rPr dirty="0" sz="900" spc="-10">
                <a:latin typeface="Tahoma"/>
                <a:cs typeface="Tahoma"/>
              </a:rPr>
              <a:t>Streaming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105">
                <a:latin typeface="Tahoma"/>
                <a:cs typeface="Tahoma"/>
              </a:rPr>
              <a:t>/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real-</a:t>
            </a:r>
            <a:r>
              <a:rPr dirty="0" sz="900">
                <a:latin typeface="Tahoma"/>
                <a:cs typeface="Tahoma"/>
              </a:rPr>
              <a:t>time</a:t>
            </a:r>
            <a:r>
              <a:rPr dirty="0" sz="900" spc="-10">
                <a:latin typeface="Tahoma"/>
                <a:cs typeface="Tahoma"/>
              </a:rPr>
              <a:t> inference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1563" y="2742737"/>
            <a:ext cx="4918075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283460" marR="5080" indent="-2271395">
              <a:lnSpc>
                <a:spcPct val="101499"/>
              </a:lnSpc>
              <a:spcBef>
                <a:spcPts val="80"/>
              </a:spcBef>
            </a:pP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FairHindiSER </a:t>
            </a:r>
            <a:r>
              <a:rPr dirty="0" sz="900" spc="-35">
                <a:solidFill>
                  <a:srgbClr val="646464"/>
                </a:solidFill>
                <a:latin typeface="Tahoma"/>
                <a:cs typeface="Tahoma"/>
              </a:rPr>
              <a:t>shows</a:t>
            </a: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 that</a:t>
            </a:r>
            <a:r>
              <a:rPr dirty="0" sz="900" spc="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 spc="-35">
                <a:solidFill>
                  <a:srgbClr val="646464"/>
                </a:solidFill>
                <a:latin typeface="Tahoma"/>
                <a:cs typeface="Tahoma"/>
              </a:rPr>
              <a:t>fairness-</a:t>
            </a:r>
            <a:r>
              <a:rPr dirty="0" sz="900" spc="-50">
                <a:solidFill>
                  <a:srgbClr val="646464"/>
                </a:solidFill>
                <a:latin typeface="Tahoma"/>
                <a:cs typeface="Tahoma"/>
              </a:rPr>
              <a:t>aware</a:t>
            </a: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646464"/>
                </a:solidFill>
                <a:latin typeface="Tahoma"/>
                <a:cs typeface="Tahoma"/>
              </a:rPr>
              <a:t>staged</a:t>
            </a:r>
            <a:r>
              <a:rPr dirty="0" sz="900" spc="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tuning </a:t>
            </a:r>
            <a:r>
              <a:rPr dirty="0" sz="900" spc="-30">
                <a:solidFill>
                  <a:srgbClr val="646464"/>
                </a:solidFill>
                <a:latin typeface="Tahoma"/>
                <a:cs typeface="Tahoma"/>
              </a:rPr>
              <a:t>reduces</a:t>
            </a:r>
            <a:r>
              <a:rPr dirty="0" sz="900" spc="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646464"/>
                </a:solidFill>
                <a:latin typeface="Tahoma"/>
                <a:cs typeface="Tahoma"/>
              </a:rPr>
              <a:t>demographic</a:t>
            </a: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 spc="-20">
                <a:solidFill>
                  <a:srgbClr val="646464"/>
                </a:solidFill>
                <a:latin typeface="Tahoma"/>
                <a:cs typeface="Tahoma"/>
              </a:rPr>
              <a:t>gaps</a:t>
            </a:r>
            <a:r>
              <a:rPr dirty="0" sz="900" spc="5">
                <a:solidFill>
                  <a:srgbClr val="646464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646464"/>
                </a:solidFill>
                <a:latin typeface="Tahoma"/>
                <a:cs typeface="Tahoma"/>
              </a:rPr>
              <a:t>without </a:t>
            </a:r>
            <a:r>
              <a:rPr dirty="0" sz="900" spc="-10">
                <a:solidFill>
                  <a:srgbClr val="646464"/>
                </a:solidFill>
                <a:latin typeface="Tahoma"/>
                <a:cs typeface="Tahoma"/>
              </a:rPr>
              <a:t>sacrificing quality.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Saumya (M25CSA027) Shivam (M25CSA028) Suraj (M25CSA030) Vidhan (M25CSA031)</dc:creator>
  <dc:title>FairHindiSER - Fair Speech Emotion Recognition for Bilingual Hindi–English Audio</dc:title>
  <dcterms:created xsi:type="dcterms:W3CDTF">2026-04-18T19:25:39Z</dcterms:created>
  <dcterms:modified xsi:type="dcterms:W3CDTF">2026-04-18T19:25:39Z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2026-04-18T00:00:00Z</vt:filetime>
  </property>
  <property fmtid="{D5CDD505-2E9C-101B-9397-08002B2CF9AE}" pid="5" name="PTEX.Fullbanner">
    <vt:lpwstr>This is pdfTeX, Version 3.141592653-2.6-1.40.28 (TeX Live 2025) kpathsea version 6.4.1</vt:lpwstr>
  </property>
  <property fmtid="{D5CDD505-2E9C-101B-9397-08002B2CF9AE}" pid="6" name="Producer">
    <vt:lpwstr>pdfTeX-1.40.28</vt:lpwstr>
  </property>
</Properties>
</file>